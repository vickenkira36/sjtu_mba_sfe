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10997" r:id="rId17"/>
    <p:sldId id="10998" r:id="rId18"/>
    <p:sldId id="10999" r:id="rId19"/>
    <p:sldId id="11000" r:id="rId20"/>
    <p:sldId id="11001" r:id="rId21"/>
    <p:sldId id="11002" r:id="rId22"/>
    <p:sldId id="11003" r:id="rId23"/>
    <p:sldId id="11004" r:id="rId24"/>
    <p:sldId id="11005" r:id="rId25"/>
    <p:sldId id="11006" r:id="rId26"/>
    <p:sldId id="11007" r:id="rId27"/>
    <p:sldId id="11008" r:id="rId28"/>
    <p:sldId id="11009" r:id="rId29"/>
    <p:sldId id="11010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759">
          <p15:clr>
            <a:srgbClr val="A4A3A4"/>
          </p15:clr>
        </p15:guide>
        <p15:guide id="2" orient="horz" pos="975">
          <p15:clr>
            <a:srgbClr val="A4A3A4"/>
          </p15:clr>
        </p15:guide>
        <p15:guide id="3" orient="horz" pos="1297">
          <p15:clr>
            <a:srgbClr val="A4A3A4"/>
          </p15:clr>
        </p15:guide>
        <p15:guide id="4" orient="horz" pos="2909">
          <p15:clr>
            <a:srgbClr val="A4A3A4"/>
          </p15:clr>
        </p15:guide>
        <p15:guide id="5" pos="1970">
          <p15:clr>
            <a:srgbClr val="A4A3A4"/>
          </p15:clr>
        </p15:guide>
        <p15:guide id="6" pos="4098">
          <p15:clr>
            <a:srgbClr val="A4A3A4"/>
          </p15:clr>
        </p15:guide>
        <p15:guide id="7" pos="5960">
          <p15:clr>
            <a:srgbClr val="A4A3A4"/>
          </p15:clr>
        </p15:guide>
        <p15:guide id="8" pos="5285">
          <p15:clr>
            <a:srgbClr val="A4A3A4"/>
          </p15:clr>
        </p15:guide>
        <p15:guide id="9" pos="2346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j/FUT9WHBS8bBt2heKQYyAbjdq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8"/>
    <p:restoredTop sz="89504" autoAdjust="0"/>
  </p:normalViewPr>
  <p:slideViewPr>
    <p:cSldViewPr snapToGrid="0">
      <p:cViewPr varScale="1">
        <p:scale>
          <a:sx n="106" d="100"/>
          <a:sy n="106" d="100"/>
        </p:scale>
        <p:origin x="640" y="176"/>
      </p:cViewPr>
      <p:guideLst>
        <p:guide pos="3759"/>
        <p:guide orient="horz" pos="975"/>
        <p:guide orient="horz" pos="1297"/>
        <p:guide orient="horz" pos="2909"/>
        <p:guide pos="1970"/>
        <p:guide pos="4098"/>
        <p:guide pos="5960"/>
        <p:guide pos="5285"/>
        <p:guide pos="23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86" Type="http://customschemas.google.com/relationships/presentationmetadata" Target="metadata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>
  <p:cSld name="仅标题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 descr="图片包含 建筑物, 圆屋顶, 地板  描述已自动生成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" y="0"/>
            <a:ext cx="121889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3">
            <a:alphaModFix/>
          </a:blip>
          <a:srcRect r="1345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6" descr="图片包含 户外, 标牌, 黑色  自动生成的说明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056" y="73482"/>
            <a:ext cx="538838" cy="53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3"/>
          </p:nvPr>
        </p:nvSpPr>
        <p:spPr>
          <a:xfrm>
            <a:off x="1075351" y="43657"/>
            <a:ext cx="7081677" cy="5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封面2">
  <p:cSld name="封面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>
            <a:spLocks noGrp="1"/>
          </p:cNvSpPr>
          <p:nvPr>
            <p:ph type="pic" idx="2"/>
          </p:nvPr>
        </p:nvSpPr>
        <p:spPr>
          <a:xfrm>
            <a:off x="0" y="749300"/>
            <a:ext cx="12203394" cy="319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3" name="Google Shape;43;p8" descr="图片包含 建筑物  自动生成的说明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-50417" y="2900149"/>
            <a:ext cx="12292835" cy="395785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3">
            <a:alphaModFix/>
          </a:blip>
          <a:srcRect l="74359" r="1345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8"/>
          <p:cNvGrpSpPr/>
          <p:nvPr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49" name="Google Shape;49;p8"/>
            <p:cNvPicPr preferRelativeResize="0"/>
            <p:nvPr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8"/>
            <p:cNvSpPr/>
            <p:nvPr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" name="Google Shape;51;p8"/>
          <p:cNvCxnSpPr/>
          <p:nvPr/>
        </p:nvCxnSpPr>
        <p:spPr>
          <a:xfrm>
            <a:off x="2328587" y="6496383"/>
            <a:ext cx="900000" cy="0"/>
          </a:xfrm>
          <a:prstGeom prst="straightConnector1">
            <a:avLst/>
          </a:prstGeom>
          <a:noFill/>
          <a:ln w="12700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" name="Google Shape;52;p8"/>
          <p:cNvCxnSpPr/>
          <p:nvPr/>
        </p:nvCxnSpPr>
        <p:spPr>
          <a:xfrm>
            <a:off x="8983387" y="6496383"/>
            <a:ext cx="900000" cy="0"/>
          </a:xfrm>
          <a:prstGeom prst="straightConnector1">
            <a:avLst/>
          </a:prstGeom>
          <a:noFill/>
          <a:ln w="12700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3" name="Google Shape;5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010" y="251357"/>
            <a:ext cx="4229100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目录-1">
  <p:cSld name="目录-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9" descr="图片包含 建筑物, 圆屋顶, 地板  描述已自动生成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" y="0"/>
            <a:ext cx="121889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/>
          <p:nvPr/>
        </p:nvSpPr>
        <p:spPr>
          <a:xfrm>
            <a:off x="304801" y="2455636"/>
            <a:ext cx="4122058" cy="143872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9" descr="图片包含 建筑物  自动生成的说明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4987924" y="4902201"/>
            <a:ext cx="7179060" cy="231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/>
          <p:nvPr/>
        </p:nvSpPr>
        <p:spPr>
          <a:xfrm rot="-5400000">
            <a:off x="2320829" y="1812287"/>
            <a:ext cx="90000" cy="41220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/>
          <p:nvPr/>
        </p:nvSpPr>
        <p:spPr>
          <a:xfrm rot="10800000" flipH="1">
            <a:off x="48979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 descr="图片包含 建筑物, 圆屋顶, 地板  描述已自动生成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" y="0"/>
            <a:ext cx="121889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92" name="Google Shape;92;p13" descr="图片包含 户外, 标牌, 黑色  自动生成的说明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056" y="73482"/>
            <a:ext cx="538838" cy="5388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body" idx="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body" idx="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 r="1345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>
  <p:cSld name="空白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（lowpoly）">
  <p:cSld name="空白（lowpoly）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图片包含 建筑物, 圆屋顶, 地板  描述已自动生成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" y="0"/>
            <a:ext cx="121889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>
            <a:extLst>
              <a:ext uri="{FF2B5EF4-FFF2-40B4-BE49-F238E27FC236}">
                <a16:creationId xmlns:a16="http://schemas.microsoft.com/office/drawing/2014/main" id="{3D05038B-8A32-4BD0-A068-AFE03E6FF8D3}"/>
              </a:ext>
            </a:extLst>
          </p:cNvPr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9B0529-EE67-44AA-BAF8-7E78156B3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A12E6D-1EC4-4BB8-BCAB-668C213B8F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B543617-7E5E-4360-A155-0CA2B7AF9E10}"/>
              </a:ext>
            </a:extLst>
          </p:cNvPr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图片包含 建筑物  自动生成的说明">
            <a:extLst>
              <a:ext uri="{FF2B5EF4-FFF2-40B4-BE49-F238E27FC236}">
                <a16:creationId xmlns:a16="http://schemas.microsoft.com/office/drawing/2014/main" id="{D3C2EE1F-0BF9-49E9-859D-A8611895DE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2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  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2915E0-7E7B-4E91-A2E6-50DB32FFA4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3352562" y="6244170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67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  描述已自动生成">
            <a:extLst>
              <a:ext uri="{FF2B5EF4-FFF2-40B4-BE49-F238E27FC236}">
                <a16:creationId xmlns:a16="http://schemas.microsoft.com/office/drawing/2014/main" id="{7C66039A-3D15-4D27-8FD3-6ADF01C34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75D47FDF-63E1-442F-8001-E72FBC10D88D}"/>
              </a:ext>
            </a:extLst>
          </p:cNvPr>
          <p:cNvGrpSpPr/>
          <p:nvPr userDrawn="1"/>
        </p:nvGrpSpPr>
        <p:grpSpPr>
          <a:xfrm>
            <a:off x="304800" y="2455636"/>
            <a:ext cx="4122059" cy="1462680"/>
            <a:chOff x="304800" y="2709636"/>
            <a:chExt cx="4122059" cy="146268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022DE15-F0A7-4081-B20E-F56AF7E8D451}"/>
                </a:ext>
              </a:extLst>
            </p:cNvPr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068AF075-1EBE-4100-82B6-D1B2511E27A3}"/>
                  </a:ext>
                </a:extLst>
              </p:cNvPr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D1F02EB-A5F5-4A25-8E13-33D76C3997D5}"/>
                    </a:ext>
                  </a:extLst>
                </p:cNvPr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" name="图片 10" descr="图片包含 建筑物  自动生成的说明">
                  <a:extLst>
                    <a:ext uri="{FF2B5EF4-FFF2-40B4-BE49-F238E27FC236}">
                      <a16:creationId xmlns:a16="http://schemas.microsoft.com/office/drawing/2014/main" id="{27CDB2F7-E7B6-465A-921A-BD30952F7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hqprint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alphaModFix amt="2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901EB5B-A305-4D12-8523-8654B0DF8D3C}"/>
                  </a:ext>
                </a:extLst>
              </p:cNvPr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5400" b="1" dirty="0">
                    <a:solidFill>
                      <a:schemeClr val="accent1"/>
                    </a:solidFill>
                  </a:rPr>
                  <a:t>目  录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DBDFDE5-938B-46BA-BF04-52626678C645}"/>
                  </a:ext>
                </a:extLst>
              </p:cNvPr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C96E7EA-26DC-40A9-97DD-57F90BFFB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6D2A06B-94AC-4433-BBC3-A98A9F2FD4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72150" y="0"/>
            <a:ext cx="641985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 userDrawn="1"/>
        </p:nvSpPr>
        <p:spPr>
          <a:xfrm flipV="1">
            <a:off x="56726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77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ECA0A7A8-52A5-4508-9B7C-8E9F070AF3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  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2915E0-7E7B-4E91-A2E6-50DB32FFA4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E0947F5-F302-4DA0-B1F5-30EE10CF1F22}"/>
              </a:ext>
            </a:extLst>
          </p:cNvPr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48909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3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4">
            <a:extLst>
              <a:ext uri="{FF2B5EF4-FFF2-40B4-BE49-F238E27FC236}">
                <a16:creationId xmlns:a16="http://schemas.microsoft.com/office/drawing/2014/main" id="{EF443B70-40F5-ACE3-B8F7-3AA57D19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200"/>
              <a:t>运筹优化算法在药企</a:t>
            </a:r>
            <a:br/>
            <a:r>
              <a:rPr sz="2200"/>
              <a:t>SFE 辖区分配中的应用研究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9D38D2C-C4A9-D59A-1ADA-71C9567BBB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00000" y="5196924"/>
            <a:ext cx="7000000" cy="600000"/>
          </a:xfrm>
        </p:spPr>
        <p:txBody>
          <a:bodyPr wrap="square"/>
          <a:lstStyle/>
          <a:p>
            <a:r>
              <a:t>汇报人：陈一          学号：124120935584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65ADA698-12EC-0D18-EC83-60B97E0890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MBA 学位论文中期答辩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6" name="图片占位符 95" descr="图片包含 天空, 泰迪熊, 熊, 建筑物  自动生成的说明">
            <a:extLst>
              <a:ext uri="{FF2B5EF4-FFF2-40B4-BE49-F238E27FC236}">
                <a16:creationId xmlns:a16="http://schemas.microsoft.com/office/drawing/2014/main" id="{EE79199E-F6B2-4AB7-AD45-DF9746ABEC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6" r="18816"/>
          <a:stretch>
            <a:fillRect/>
          </a:stretch>
        </p:blipFill>
        <p:spPr/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A7DD4836-010D-456E-BBA3-89944340FA4A}"/>
              </a:ext>
            </a:extLst>
          </p:cNvPr>
          <p:cNvSpPr/>
          <p:nvPr/>
        </p:nvSpPr>
        <p:spPr>
          <a:xfrm>
            <a:off x="6275750" y="11806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cs typeface="+mn-ea"/>
                <a:sym typeface="+mn-lt"/>
              </a:rPr>
              <a:t>研究背景与问题</a:t>
            </a:r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9A01E40F-4D27-46E0-B3C8-ACC612FF8694}"/>
              </a:ext>
            </a:extLst>
          </p:cNvPr>
          <p:cNvGrpSpPr/>
          <p:nvPr/>
        </p:nvGrpSpPr>
        <p:grpSpPr>
          <a:xfrm>
            <a:off x="5345475" y="1180600"/>
            <a:ext cx="720000" cy="720000"/>
            <a:chOff x="5412150" y="1180600"/>
            <a:chExt cx="720000" cy="720000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9F1E9CFB-5705-4342-969C-1BBB6EB698F5}"/>
                </a:ext>
              </a:extLst>
            </p:cNvPr>
            <p:cNvSpPr/>
            <p:nvPr/>
          </p:nvSpPr>
          <p:spPr>
            <a:xfrm>
              <a:off x="5412150" y="118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cs typeface="+mn-ea"/>
                  <a:sym typeface="+mn-lt"/>
                </a:rPr>
                <a:t>1</a:t>
              </a:r>
              <a:endParaRPr lang="zh-CN" altLang="en-US" sz="3200" b="1" dirty="0">
                <a:cs typeface="+mn-ea"/>
                <a:sym typeface="+mn-lt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1E43874-40A0-4EC5-9CA2-95CEB3981475}"/>
                </a:ext>
              </a:extLst>
            </p:cNvPr>
            <p:cNvSpPr/>
            <p:nvPr/>
          </p:nvSpPr>
          <p:spPr>
            <a:xfrm>
              <a:off x="5412150" y="181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DFF296D-4CA6-4FC2-8D7B-1BAFF1CF78B8}"/>
              </a:ext>
            </a:extLst>
          </p:cNvPr>
          <p:cNvGrpSpPr/>
          <p:nvPr/>
        </p:nvGrpSpPr>
        <p:grpSpPr>
          <a:xfrm>
            <a:off x="5345475" y="2044600"/>
            <a:ext cx="720000" cy="720000"/>
            <a:chOff x="5412150" y="2260600"/>
            <a:chExt cx="720000" cy="720000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B4503D4-DDDF-487D-9490-1ED837433D97}"/>
                </a:ext>
              </a:extLst>
            </p:cNvPr>
            <p:cNvSpPr/>
            <p:nvPr/>
          </p:nvSpPr>
          <p:spPr>
            <a:xfrm>
              <a:off x="5412150" y="226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cs typeface="+mn-ea"/>
                  <a:sym typeface="+mn-lt"/>
                </a:rPr>
                <a:t>2</a:t>
              </a:r>
              <a:endParaRPr lang="zh-CN" altLang="en-US" sz="3200" b="1" dirty="0">
                <a:cs typeface="+mn-ea"/>
                <a:sym typeface="+mn-lt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BCC96CB-D24E-491C-9D07-0DA9EADF43B3}"/>
                </a:ext>
              </a:extLst>
            </p:cNvPr>
            <p:cNvSpPr/>
            <p:nvPr/>
          </p:nvSpPr>
          <p:spPr>
            <a:xfrm>
              <a:off x="5412150" y="289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25BB4173-241B-4451-B976-8D9E36EF561C}"/>
              </a:ext>
            </a:extLst>
          </p:cNvPr>
          <p:cNvGrpSpPr/>
          <p:nvPr/>
        </p:nvGrpSpPr>
        <p:grpSpPr>
          <a:xfrm>
            <a:off x="5345475" y="2908600"/>
            <a:ext cx="720000" cy="720000"/>
            <a:chOff x="5412150" y="3340600"/>
            <a:chExt cx="720000" cy="720000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8C5D102-8236-4014-AD75-3828CE0C6A76}"/>
                </a:ext>
              </a:extLst>
            </p:cNvPr>
            <p:cNvSpPr/>
            <p:nvPr/>
          </p:nvSpPr>
          <p:spPr>
            <a:xfrm>
              <a:off x="5412150" y="334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cs typeface="+mn-ea"/>
                  <a:sym typeface="+mn-lt"/>
                </a:rPr>
                <a:t>3</a:t>
              </a:r>
              <a:endParaRPr lang="zh-CN" altLang="en-US" sz="3200" b="1" dirty="0">
                <a:cs typeface="+mn-ea"/>
                <a:sym typeface="+mn-lt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C9C839E-D7E7-40AA-A9F0-25F8AF260049}"/>
                </a:ext>
              </a:extLst>
            </p:cNvPr>
            <p:cNvSpPr/>
            <p:nvPr/>
          </p:nvSpPr>
          <p:spPr>
            <a:xfrm>
              <a:off x="5412150" y="397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20569484-D97A-4612-A3C8-19F561CD404C}"/>
              </a:ext>
            </a:extLst>
          </p:cNvPr>
          <p:cNvGrpSpPr/>
          <p:nvPr/>
        </p:nvGrpSpPr>
        <p:grpSpPr>
          <a:xfrm>
            <a:off x="5345475" y="3772600"/>
            <a:ext cx="720000" cy="720000"/>
            <a:chOff x="5412150" y="4420600"/>
            <a:chExt cx="720000" cy="72000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7FBD8A29-E5D4-4173-8567-41E45DDE9E1C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cs typeface="+mn-ea"/>
                  <a:sym typeface="+mn-lt"/>
                </a:rPr>
                <a:t>4</a:t>
              </a:r>
              <a:endParaRPr lang="zh-CN" altLang="en-US" sz="3200" b="1" dirty="0">
                <a:cs typeface="+mn-ea"/>
                <a:sym typeface="+mn-lt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CC878C90-5C97-4319-A4A9-973F44F684F1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6043BFAA-FB50-4303-9785-5DF074A22CF4}"/>
              </a:ext>
            </a:extLst>
          </p:cNvPr>
          <p:cNvSpPr/>
          <p:nvPr/>
        </p:nvSpPr>
        <p:spPr>
          <a:xfrm>
            <a:off x="6275750" y="20446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cs typeface="+mn-ea"/>
                <a:sym typeface="+mn-lt"/>
              </a:rPr>
              <a:t>行业调研验证</a:t>
            </a:r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7B11E5F-E40B-47E0-8FBA-8F6C0035B72A}"/>
              </a:ext>
            </a:extLst>
          </p:cNvPr>
          <p:cNvSpPr/>
          <p:nvPr/>
        </p:nvSpPr>
        <p:spPr>
          <a:xfrm>
            <a:off x="6275750" y="29086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cs typeface="+mn-ea"/>
                <a:sym typeface="+mn-lt"/>
              </a:rPr>
              <a:t>模型与算法</a:t>
            </a:r>
            <a:endParaRPr lang="zh-CN" altLang="en-US" sz="28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8027BF7-8527-4C35-8DDA-D8F9150CE05E}"/>
              </a:ext>
            </a:extLst>
          </p:cNvPr>
          <p:cNvSpPr/>
          <p:nvPr/>
        </p:nvSpPr>
        <p:spPr>
          <a:xfrm>
            <a:off x="6275750" y="37726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cs typeface="+mn-ea"/>
                <a:sym typeface="+mn-lt"/>
              </a:rPr>
              <a:t>实证分析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C346985-C71F-01AE-9AF2-FEDAFC9A52B1}"/>
              </a:ext>
            </a:extLst>
          </p:cNvPr>
          <p:cNvGrpSpPr/>
          <p:nvPr/>
        </p:nvGrpSpPr>
        <p:grpSpPr>
          <a:xfrm>
            <a:off x="5345475" y="4636600"/>
            <a:ext cx="720000" cy="720000"/>
            <a:chOff x="5412150" y="4420600"/>
            <a:chExt cx="720000" cy="7200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8E50A01-E504-8BA3-04A0-24CCF330B860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cs typeface="+mn-ea"/>
                  <a:sym typeface="+mn-lt"/>
                </a:rPr>
                <a:t>5</a:t>
              </a:r>
              <a:endParaRPr lang="zh-CN" altLang="en-US" sz="3200" b="1" dirty="0"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CF9089D-FDE5-34BF-2C33-2745166051BC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7075F190-FFFD-80C0-EBE9-934BFCB4BEFE}"/>
              </a:ext>
            </a:extLst>
          </p:cNvPr>
          <p:cNvSpPr/>
          <p:nvPr/>
        </p:nvSpPr>
        <p:spPr>
          <a:xfrm>
            <a:off x="6275750" y="46366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cs typeface="+mn-ea"/>
                <a:sym typeface="+mn-lt"/>
              </a:rPr>
              <a:t>管理与商业化</a:t>
            </a:r>
          </a:p>
        </p:txBody>
      </p:sp>
      <p:grpSp>
        <p:nvGrpSpPr>
          <p:cNvPr id="97" name="组合 1">
            <a:extLst>
              <a:ext uri="{FF2B5EF4-FFF2-40B4-BE49-F238E27FC236}">
                <a16:creationId xmlns:a16="http://schemas.microsoft.com/office/drawing/2014/main" id="{8C346985-C71F-01AE-9AF2-FEDAFC9A52B1}"/>
              </a:ext>
            </a:extLst>
          </p:cNvPr>
          <p:cNvGrpSpPr/>
          <p:nvPr/>
        </p:nvGrpSpPr>
        <p:grpSpPr>
          <a:xfrm>
            <a:off x="5345475" y="5500600"/>
            <a:ext cx="720000" cy="720000"/>
            <a:chOff x="5412150" y="4420600"/>
            <a:chExt cx="720000" cy="7200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8E50A01-E504-8BA3-04A0-24CCF330B860}"/>
                </a:ext>
              </a:extLst>
            </p:cNvPr>
            <p:cNvSpPr/>
            <p:nvPr/>
          </p:nvSpPr>
          <p:spPr>
            <a:xfrm>
              <a:off x="5412150" y="4420600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cs typeface="+mn-ea"/>
                  <a:sym typeface="+mn-lt"/>
                </a:rPr>
                <a:t>6</a:t>
              </a:r>
              <a:endParaRPr lang="zh-CN" altLang="en-US" sz="3200" b="1" dirty="0"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CF9089D-FDE5-34BF-2C33-2745166051BC}"/>
                </a:ext>
              </a:extLst>
            </p:cNvPr>
            <p:cNvSpPr/>
            <p:nvPr/>
          </p:nvSpPr>
          <p:spPr>
            <a:xfrm>
              <a:off x="5412150" y="5050600"/>
              <a:ext cx="720000" cy="9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8" name="矩形 4">
            <a:extLst>
              <a:ext uri="{FF2B5EF4-FFF2-40B4-BE49-F238E27FC236}">
                <a16:creationId xmlns:a16="http://schemas.microsoft.com/office/drawing/2014/main" id="{7075F190-FFFD-80C0-EBE9-934BFCB4BEFE}"/>
              </a:ext>
            </a:extLst>
          </p:cNvPr>
          <p:cNvSpPr/>
          <p:nvPr/>
        </p:nvSpPr>
        <p:spPr>
          <a:xfrm>
            <a:off x="6275750" y="5500600"/>
            <a:ext cx="4671650" cy="72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cs typeface="+mn-ea"/>
                <a:sym typeface="+mn-lt"/>
              </a:rPr>
              <a:t>进展与计划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研究背景：从增量扩张到存量博弈</a:t>
            </a:r>
          </a:p>
        </p:txBody>
      </p:sp>
      <p:sp>
        <p:nvSpPr>
          <p:cNvPr id="8" name="矩形 7"/>
          <p:cNvSpPr/>
          <p:nvPr/>
        </p:nvSpPr>
        <p:spPr>
          <a:xfrm>
            <a:off x="7950000" y="2450000"/>
            <a:ext cx="3950000" cy="260000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57187" indent="-342900">
              <a:lnSpc>
                <a:spcPct val="130000"/>
              </a:lnSpc>
              <a:buNone/>
            </a:pPr>
            <a:r>
              <a:rPr lang="zh-CN" altLang="en-US" sz="1800" dirty="0" b="1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六年销售额 +50%
一线人数 −8%
增长不再靠加人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Picture 8" descr="fig3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506025"/>
            <a:ext cx="7300000" cy="4337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52C8AA-2316-2E9F-E343-87D728B94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3089F1-55D0-D37C-6287-2047E3250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问题：数据丰富，算法贫乏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5CA134-D8AB-4C77-A5D1-8B33D8303A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59751E-6669-B435-18F0-EB292133D5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0EC54-09E9-3C50-C304-12EE1C1C12D1}"/>
              </a:ext>
            </a:extLst>
          </p:cNvPr>
          <p:cNvSpPr txBox="1"/>
          <p:nvPr/>
        </p:nvSpPr>
        <p:spPr>
          <a:xfrm>
            <a:off x="560000" y="1250000"/>
            <a:ext cx="9300000" cy="4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</p:txBody>
      </p:sp>
      <p:sp>
        <p:nvSpPr>
          <p:cNvPr id="7" name="Rounded Rectangle 6"/>
          <p:cNvSpPr/>
          <p:nvPr/>
        </p:nvSpPr>
        <p:spPr>
          <a:xfrm>
            <a:off x="600000" y="1350000"/>
            <a:ext cx="5325000" cy="23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180000" tIns="160000"/>
          <a:lstStyle/>
          <a:p>
            <a:pPr algn="l"/>
            <a:r>
              <a:rPr sz="1700" b="1">
                <a:solidFill>
                  <a:srgbClr val="A11B2E"/>
                </a:solidFill>
                <a:latin typeface="微软雅黑"/>
              </a:rPr>
              <a:t>政策三重压力</a:t>
            </a:r>
          </a:p>
          <a:p>
            <a:pPr algn="l"/>
            <a:r>
              <a:rPr sz="1300">
                <a:solidFill>
                  <a:srgbClr val="222222"/>
                </a:solidFill>
                <a:latin typeface="微软雅黑"/>
              </a:rPr>
              <a:t>集采常态化、医保谈判机制化、
反腐深水化，持续压缩利润空间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350000"/>
            <a:ext cx="90000" cy="2300000"/>
          </a:xfrm>
          <a:prstGeom prst="rect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5000" y="1350000"/>
            <a:ext cx="5325000" cy="23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180000" tIns="160000"/>
          <a:lstStyle/>
          <a:p>
            <a:pPr algn="l"/>
            <a:r>
              <a:rPr sz="1700" b="1">
                <a:solidFill>
                  <a:srgbClr val="A11B2E"/>
                </a:solidFill>
                <a:latin typeface="微软雅黑"/>
              </a:rPr>
              <a:t>工具停留在手工</a:t>
            </a:r>
          </a:p>
          <a:p>
            <a:pPr algn="l"/>
            <a:r>
              <a:rPr sz="1300">
                <a:solidFill>
                  <a:srgbClr val="222222"/>
                </a:solidFill>
                <a:latin typeface="微软雅黑"/>
              </a:rPr>
              <a:t>多数企业靠 Excel 博弈，
决策周期 4-8 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5000" y="1350000"/>
            <a:ext cx="90000" cy="2300000"/>
          </a:xfrm>
          <a:prstGeom prst="rect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0000" y="4000000"/>
            <a:ext cx="5325000" cy="23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180000" tIns="160000"/>
          <a:lstStyle/>
          <a:p>
            <a:pPr algn="l"/>
            <a:r>
              <a:rPr sz="1700" b="1">
                <a:solidFill>
                  <a:srgbClr val="A11B2E"/>
                </a:solidFill>
                <a:latin typeface="微软雅黑"/>
              </a:rPr>
              <a:t>商业 SaaS 水土不服</a:t>
            </a:r>
          </a:p>
          <a:p>
            <a:pPr algn="l"/>
            <a:r>
              <a:rPr sz="1300">
                <a:solidFill>
                  <a:srgbClr val="222222"/>
                </a:solidFill>
                <a:latin typeface="微软雅黑"/>
              </a:rPr>
              <a:t>国际套件难适配中国
高度非标的业务规则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000" y="4000000"/>
            <a:ext cx="90000" cy="2300000"/>
          </a:xfrm>
          <a:prstGeom prst="rect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5000" y="4000000"/>
            <a:ext cx="5325000" cy="23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000" rIns="180000" tIns="160000"/>
          <a:lstStyle/>
          <a:p>
            <a:pPr algn="l"/>
            <a:r>
              <a:rPr sz="1700" b="1">
                <a:solidFill>
                  <a:srgbClr val="A11B2E"/>
                </a:solidFill>
                <a:latin typeface="微软雅黑"/>
              </a:rPr>
              <a:t>低频但高影响</a:t>
            </a:r>
          </a:p>
          <a:p>
            <a:pPr algn="l"/>
            <a:r>
              <a:rPr sz="1300">
                <a:solidFill>
                  <a:srgbClr val="222222"/>
                </a:solidFill>
                <a:latin typeface="微软雅黑"/>
              </a:rPr>
              <a:t>牵动队伍稳定性、客户连续性
与总部资源配置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5000" y="4000000"/>
            <a:ext cx="90000" cy="2300000"/>
          </a:xfrm>
          <a:prstGeom prst="rect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行业调研：12 位从业者的量化锚点</a:t>
            </a:r>
          </a:p>
        </p:txBody>
      </p:sp>
      <p:sp>
        <p:nvSpPr>
          <p:cNvPr id="8" name="矩形 7"/>
          <p:cNvSpPr/>
          <p:nvPr/>
        </p:nvSpPr>
        <p:spPr>
          <a:xfrm>
            <a:off x="7950000" y="2450000"/>
            <a:ext cx="3950000" cy="260000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57187" indent="-342900">
              <a:lnSpc>
                <a:spcPct val="130000"/>
              </a:lnSpc>
              <a:buNone/>
            </a:pPr>
            <a:r>
              <a:rPr lang="zh-CN" altLang="en-US" sz="1800" dirty="0" b="1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14 题问卷 + 半结构化访谈
收敛出 Index 构成、
维度排序、阈值容忍带、
算法接受度四类锚点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Picture 8" descr="fig3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481" y="1300000"/>
            <a:ext cx="4501037" cy="47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优化模型 (P)：目标与约束的整体形式</a:t>
            </a:r>
          </a:p>
        </p:txBody>
      </p:sp>
      <p:pic>
        <p:nvPicPr>
          <p:cNvPr id="6" name="Picture 5" descr="模型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71" y="1336968"/>
            <a:ext cx="8382057" cy="41840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两阶段解耦算法架构</a:t>
            </a:r>
          </a:p>
        </p:txBody>
      </p:sp>
      <p:pic>
        <p:nvPicPr>
          <p:cNvPr id="6" name="Picture 5" descr="fig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224" y="1007541"/>
            <a:ext cx="3333551" cy="48429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实证设计与问题规模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000" y="1400000"/>
          <a:ext cx="104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000"/>
                <a:gridCol w="2080000"/>
                <a:gridCol w="2080000"/>
                <a:gridCol w="2080000"/>
                <a:gridCol w="2080000"/>
              </a:tblGrid>
              <a:tr h="1075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样本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医院 / 辖区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决策变量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约束数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耗时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</a:tr>
              <a:tr h="1075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上海（聚集型）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99 / 19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2,033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563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4.6 秒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</a:tr>
              <a:tr h="1075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湖南（中等）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60 / 16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1,008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143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1.9 秒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</a:tr>
              <a:tr h="1075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新疆（稀疏）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35 / 10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390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149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2.4 秒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主样本结果：湖南</a:t>
            </a:r>
          </a:p>
        </p:txBody>
      </p:sp>
      <p:sp>
        <p:nvSpPr>
          <p:cNvPr id="8" name="矩形 7"/>
          <p:cNvSpPr/>
          <p:nvPr/>
        </p:nvSpPr>
        <p:spPr>
          <a:xfrm>
            <a:off x="7950000" y="2450000"/>
            <a:ext cx="3950000" cy="260000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57187" indent="-342900">
              <a:lnSpc>
                <a:spcPct val="130000"/>
              </a:lnSpc>
              <a:buNone/>
            </a:pPr>
            <a:r>
              <a:rPr lang="zh-CN" altLang="en-US" sz="1800" dirty="0" b="1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CV  44.3% → 18.3%
半径  50.9 → 33.6 km
保留率（Index）87.4%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Picture 8" descr="fig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507466"/>
            <a:ext cx="7300000" cy="43350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三省横向对比与能力边界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000" y="1400000"/>
          <a:ext cx="104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2600000"/>
                <a:gridCol w="2600000"/>
                <a:gridCol w="2600000"/>
              </a:tblGrid>
              <a:tr h="6142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上海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湖南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新疆</a:t>
                      </a:r>
                    </a:p>
                  </a:txBody>
                  <a:tcPr anchor="ctr" marL="120000" marR="120000" marT="40000" marB="40000">
                    <a:solidFill>
                      <a:srgbClr val="A11B2E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As-Is CV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63.8%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44.3%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47.9%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To-Be CV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15.2%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18.3%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32.1%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CV 改善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76.2%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58.7%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33.0%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半径压缩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54.5%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34.0%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54.7%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</a:tr>
              <a:tr h="6142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保留率（Index）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62.9%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87.4%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82.1%</a:t>
                      </a:r>
                    </a:p>
                  </a:txBody>
                  <a:tcPr anchor="ctr" marL="120000" marR="120000" marT="40000" marB="40000">
                    <a:solidFill>
                      <a:srgbClr val="FFFFFF"/>
                    </a:solidFill>
                  </a:tcPr>
                </a:tc>
              </a:tr>
              <a:tr h="6142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落入 20% 可接受带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是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微软雅黑"/>
                        </a:rPr>
                        <a:t>否 — 能力边界</a:t>
                      </a:r>
                    </a:p>
                  </a:txBody>
                  <a:tcPr anchor="ctr" marL="120000" marR="120000" marT="40000" marB="40000">
                    <a:solidFill>
                      <a:srgbClr val="F3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8</a:t>
            </a:fld>
            <a:endParaRPr/>
          </a:p>
        </p:txBody>
      </p:sp>
      <p:sp>
        <p:nvSpPr>
          <p:cNvPr id="3" name="单句占位符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ctr"/>
            <a:r>
              <a:t>一个反直觉的发现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D0FFC2-BF32-06FD-247A-D2F844B6D073}"/>
              </a:ext>
            </a:extLst>
          </p:cNvPr>
          <p:cNvSpPr/>
          <p:nvPr/>
        </p:nvSpPr>
        <p:spPr>
          <a:xfrm>
            <a:off x="695627" y="1483942"/>
            <a:ext cx="10400003" cy="3646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66B80BC-4ECC-C8CC-A888-E70B099B2EE1}"/>
              </a:ext>
            </a:extLst>
          </p:cNvPr>
          <p:cNvSpPr/>
          <p:nvPr/>
        </p:nvSpPr>
        <p:spPr>
          <a:xfrm>
            <a:off x="695627" y="1548833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784490-9E83-2CF3-9C69-C3999B321D18}"/>
              </a:ext>
            </a:extLst>
          </p:cNvPr>
          <p:cNvSpPr txBox="1"/>
          <p:nvPr/>
        </p:nvSpPr>
        <p:spPr>
          <a:xfrm>
            <a:off x="695627" y="1783942"/>
            <a:ext cx="10400003" cy="30464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en-US" sz="2800" dirty="0" b="0"/>
              <a:t>As-Is 失衡越深，算法重构越彻底，客户保留率相应分化</a:t>
            </a:r>
          </a:p>
        </p:txBody>
      </p:sp>
      <p:sp>
        <p:nvSpPr>
          <p:cNvPr id="7" name="right-quote-sign_36811">
            <a:extLst>
              <a:ext uri="{FF2B5EF4-FFF2-40B4-BE49-F238E27FC236}">
                <a16:creationId xmlns:a16="http://schemas.microsoft.com/office/drawing/2014/main" id="{E63B3D57-6473-F8AB-59B8-B82CE50460BF}"/>
              </a:ext>
            </a:extLst>
          </p:cNvPr>
          <p:cNvSpPr>
            <a:spLocks noChangeAspect="1"/>
          </p:cNvSpPr>
          <p:nvPr/>
        </p:nvSpPr>
        <p:spPr bwMode="auto">
          <a:xfrm>
            <a:off x="10596142" y="5330399"/>
            <a:ext cx="507655" cy="492365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落地路径：人机协同三阶段</a:t>
            </a:r>
          </a:p>
        </p:txBody>
      </p:sp>
      <p:pic>
        <p:nvPicPr>
          <p:cNvPr id="6" name="Picture 5" descr="fig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757" y="1007541"/>
            <a:ext cx="5554485" cy="48429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52C8AA-2316-2E9F-E343-87D728B94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3089F1-55D0-D37C-6287-2047E3250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研究不足与下一阶段计划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5CA134-D8AB-4C77-A5D1-8B33D8303A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59751E-6669-B435-18F0-EB292133D5F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0EC54-09E9-3C50-C304-12EE1C1C12D1}"/>
              </a:ext>
            </a:extLst>
          </p:cNvPr>
          <p:cNvSpPr txBox="1"/>
          <p:nvPr/>
        </p:nvSpPr>
        <p:spPr>
          <a:xfrm>
            <a:off x="560000" y="1250000"/>
            <a:ext cx="9300000" cy="4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</p:txBody>
      </p:sp>
      <p:sp>
        <p:nvSpPr>
          <p:cNvPr id="7" name="Oval 6"/>
          <p:cNvSpPr/>
          <p:nvPr/>
        </p:nvSpPr>
        <p:spPr>
          <a:xfrm>
            <a:off x="700000" y="1505000"/>
            <a:ext cx="720000" cy="720000"/>
          </a:xfrm>
          <a:prstGeom prst="ellipse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0000" y="1350000"/>
            <a:ext cx="9840000" cy="1030000"/>
          </a:xfrm>
          <a:prstGeom prst="roundRect">
            <a:avLst/>
          </a:prstGeom>
          <a:solidFill>
            <a:srgbClr val="F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/>
              </a:rPr>
              <a:t>数据范围：单企业单时点，泛化性待检验</a:t>
            </a:r>
          </a:p>
        </p:txBody>
      </p:sp>
      <p:sp>
        <p:nvSpPr>
          <p:cNvPr id="9" name="Oval 8"/>
          <p:cNvSpPr/>
          <p:nvPr/>
        </p:nvSpPr>
        <p:spPr>
          <a:xfrm>
            <a:off x="700000" y="2795000"/>
            <a:ext cx="720000" cy="720000"/>
          </a:xfrm>
          <a:prstGeom prst="ellipse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0000" y="2640000"/>
            <a:ext cx="9840000" cy="1030000"/>
          </a:xfrm>
          <a:prstGeom prst="roundRect">
            <a:avLst/>
          </a:prstGeom>
          <a:solidFill>
            <a:srgbClr val="F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/>
              </a:rPr>
              <a:t>实验设计：缺单阶段对照与聚类消融</a:t>
            </a:r>
          </a:p>
        </p:txBody>
      </p:sp>
      <p:sp>
        <p:nvSpPr>
          <p:cNvPr id="11" name="Oval 10"/>
          <p:cNvSpPr/>
          <p:nvPr/>
        </p:nvSpPr>
        <p:spPr>
          <a:xfrm>
            <a:off x="700000" y="4085000"/>
            <a:ext cx="720000" cy="720000"/>
          </a:xfrm>
          <a:prstGeom prst="ellipse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60000" y="3930000"/>
            <a:ext cx="9840000" cy="1030000"/>
          </a:xfrm>
          <a:prstGeom prst="roundRect">
            <a:avLst/>
          </a:prstGeom>
          <a:solidFill>
            <a:srgbClr val="F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/>
              </a:rPr>
              <a:t>九月补实验：单阶段对照 / 随机初始解 / SA 零迭代基线</a:t>
            </a:r>
          </a:p>
        </p:txBody>
      </p:sp>
      <p:sp>
        <p:nvSpPr>
          <p:cNvPr id="13" name="Oval 12"/>
          <p:cNvSpPr/>
          <p:nvPr/>
        </p:nvSpPr>
        <p:spPr>
          <a:xfrm>
            <a:off x="700000" y="5375000"/>
            <a:ext cx="720000" cy="720000"/>
          </a:xfrm>
          <a:prstGeom prst="ellipse">
            <a:avLst/>
          </a:prstGeom>
          <a:solidFill>
            <a:srgbClr val="A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0000" y="5220000"/>
            <a:ext cx="9840000" cy="1030000"/>
          </a:xfrm>
          <a:prstGeom prst="roundRect">
            <a:avLst/>
          </a:prstGeom>
          <a:solidFill>
            <a:srgbClr val="F3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/>
              </a:rPr>
              <a:t>十月完善：加厚文献综述、格式复核、预答辩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F9CB6D-9540-1BFB-B8AE-6B7B087F25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49369</TotalTime>
  <Words>273</Words>
  <Application>Microsoft Macintosh PowerPoint</Application>
  <PresentationFormat>宽屏</PresentationFormat>
  <Paragraphs>54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SimSun</vt:lpstr>
      <vt:lpstr>微软雅黑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管理科学与数据分析</dc:title>
  <dc:creator>一 李</dc:creator>
  <cp:lastModifiedBy>Stone Shen</cp:lastModifiedBy>
  <cp:revision>921</cp:revision>
  <dcterms:created xsi:type="dcterms:W3CDTF">2019-01-23T14:14:00Z</dcterms:created>
  <dcterms:modified xsi:type="dcterms:W3CDTF">2026-09-16T03:09:49Z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