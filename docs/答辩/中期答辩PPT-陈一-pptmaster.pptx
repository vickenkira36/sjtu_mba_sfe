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3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49" r:id="rId24"/>
  </p:sldMasterIdLst>
  <p:notesMasterIdLst>
    <p:notesMasterId r:id="rId2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  <Relationship Id="rId23" Type="http://schemas.openxmlformats.org/officeDocument/2006/relationships/notesMaster" Target="notesMasters/notesMaster1.xml"/>
  <Relationship Id="rId24" Type="http://schemas.openxmlformats.org/officeDocument/2006/relationships/slideMaster" Target="slideMasters/slideMaster2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各位老师好，我是陈一，学号 124120935584。今天向各位汇报的中期进展题目是《运筹优化算法在药企 SFE 辖区分配中的应用研究》。接下来的十二分钟，我会按照研究本身的推进顺序来讲，先说清楚问题为什么值得做，再说模型和算法，然后是实证结果和它的能力边界，最后是落地设想与下一阶段计划。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整个汇报分四段。第一段回答选题成立不成立；第二段给出问题的数学形式和求解架构；第三段是三个省份的实证，也是我今天最想请各位老师检验的部分，因为算法在其中一个省份是失效的；第四段讲组织落地的设想，以及我自己认为这篇论文目前还缺什么、九月到十二月怎么补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看一张真实数据。这是某跨国药企六年的销售额与一线销售人数，销售额涨了百分之五十，一线人数反而减少了百分之八。两条线的剪刀差意味着人均负荷在持续上升。它的背景是集采常态化、医保谈判机制化、医药反腐深水化这三重政策压力，共同压缩了企业的利润空间，企业已经不可能靠继续加人来换增长。在这个前提下，几百名代表怎么分这几千家医院，就从一件后台事务变成了效率杠杆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那么这件事目前是怎么做的。调研下来卡在五个地方。政策压力刚才讲过了。工具层面，多数企业仍然靠 Excel 人工博弈，一轮辖区调整的决策周期是四到八周。国际商业 SaaS 套件在中国水土不服，因为中国药企的业务规则高度非标准化。这件事发生频率不高，但影响面很大，牵动队伍稳定性、客户关系连续性和总部资源配置。而它的本质，是一个把数千家医院终端分配给数百名代表的多目标组合优化问题。所以缺口不在数据，企业数据是齐全的，缺的是从数据到决策中间的那一层算法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为了避免算法目标由我自己拍脑袋决定，我先做了一轮调研：十四题问卷加半结构化深度访谈，覆盖十二位行业从业者。收敛出四类锚点。综合价值指数由销量占六成、潜力占四成构成。维度排序上，业务方认为均衡性优先于地理紧凑性。阈值容忍带是正负百分之二十，这是业务侧认可的可接受线。算法接受度方面，百分之六十七的受访者更偏好高客户保留率的方案。后面模型里出现的每一个目标项和每一个阈值，都能追到这张表上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下面进入模型与算法部分。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这是问题的完整数学形式，论文第 4.4.4 节的式 4-10 和 4-11。它是一个 0-1 非线性规划。目标函数把五项统一到同一个阈值化惩罚框架下：Index 均衡度偏差、辖区容量、覆盖城市数、历史延续性，以及地理跨度。设计上有三点需要说明。第一，阈值化的含义是只有超出业务容忍带才开始惩罚，而且罚则按平方增长，这样既尊重业务的容忍区间，又能强力压制极端值。第二，基准惩罚系数取一万，各项通过各自的阈值做量纲归一。第三，地理跨度项是唯一没有阈值的，从第一公里起就存在梯度，距离每翻一倍惩罚翻四倍，这意味着算法在任何密度的场景下都持续承受向内收拢的压力。约束部分保证每个决策单元恰好归属一个辖区，每个辖区至少分到一个单元，同源的虚拟份额不落在同一辖区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均衡的对象需要先定义清楚。这里用的不是医院数，也不是单纯的销量，而是综合价值指数。构造分三步：先做省内份额归一化，消除省与省之间的量纲差异；再按销量六成、潜力四成加权聚合，这个权重来自刚才那轮调研；最后乘以产品系数并放大一千倍，得到便于阅读的整数量级。有两个取舍需要交代。为什么不直接用销量：只看销量会把增长机会锁死在存量大户身上，潜力高但当前产出低的医院会被系统性低估。为什么要做省内归一化：跨省的绝对值本来就不可比，归一化之后同一套阈值才能跨省复用。另外，对于个别 Index 极高的大医院，预处理阶段会做虚拟拆分，拆分后每个份额都是独立的分配对象。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求解架构是两阶段解耦。第一阶段只管均衡：用六层地理聚类生成初始解，然后用模拟退火纯粹优化 Index 均衡性和地理紧凑性，这个阶段完全不看历史分配。第二阶段才引入历史：用 Hungarian 算法把第一阶段产出的匿名簇映射到历史辖区编号上，目标是最大化 Index 加权的客户保留率。这样做的理由是，如果把历史稳定性惩罚放回第一阶段的代价函数，均衡性和历史延续性会在同一个目标里互相妥协，产生明显的锚定效应，算法会倾向于守着原方案不动。解耦之后，两个目标在各自的子问题上依次求优。但我必须同时说明，序贯求优不等价于两个目标的联合最优，这一点写在论文 7.3 节，我没有回避它。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接下来是实证部分，也包括算法失效的地方。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先交代算例有多大，避免各位老师怀疑这是个玩具问题。三个样本：上海 99 家医院、19 个辖区，虚拟拆分后决策单元 107 个，决策变量两千零三十三个，约束五百六十三条，求解四点六秒。湖南 60 家医院、16 个辖区，决策变量一千零八个，一点九秒。新疆 35 家医院、10 个辖区，决策变量三百九十个，二点四秒。注意决策单元数是虚拟拆分后的份额数，不是原始医院数。耗时是单进程单线程环境的实测值，没有用任何并行加速。对照人工方案四到八周的整体周期，这是从周量级压到秒级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湖南是主样本。它的失衡形态是六十家医院、十六个辖区，失衡主要由一家 Index 接近三千二百五十的省级肿瘤专科医院主导——这种"少数大医院支撑大半业务量"的形态，是国内多数省份的真实情况。左边是优化前后的辖区 Index 分布对照。右边四个数：Index 变异系数从百分之四十四点三降到百分之十八点三；辖区平均最大半径从五十点九公里压到三十三点六公里；Index 加权的客户保留率保持在百分之八十七点四。最后一行是代价，必须说：平均覆盖城市数从一点二五升到一点四四，也就是紧凑性的改善伴随了轻微的跨城市增加。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三个省份横向放在一起看。三省的 CV 降幅在百分之三十三到七十六之间，半径压缩在百分之三十四到五十五之间，保留率在百分之六十三到八十七之间。有两个值得说的发现。第一个是反直觉的：业务侧原本认为地理跨度大的省份算法难有作为，但新疆的半径压缩达到百分之五十四点七，和上海几乎持平，说明即使在一百六十六万平方公里的大省里，算法仍能把人工分配中被打散的相邻医院重新归并。第二个是必须承认的边界：上海和湖南的优化后 CV 落在百分之十五到十九，在业务可接受的百分之二十线以内；但新疆是百分之三十二点一，明显在带外。原因是稀疏场景下地理跨度惩罚和 Index 偏差惩罚在代价函数里直接冲突，任何进一步压平 Index 的调整都会大幅抬高地理惩罚，模拟退火因此更早停在均衡度较差的解上。另外新疆十次独立重复运行的离散度也是三省中最大的，CV 标准差约五个百分点，而上海约一点六、湖南约二，说明稀疏场景的解空间存在多个质量相近的局部最优，单次运行结果有较大偶然性。这也正是我在第五章采用"多次运行按代价函数取优"这一口径的直接原因。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算法要在组织里跑起来，定位必须说清楚。这套机制是算法出基线、业务经理做微调的三阶段人机协同，算法不替代业务判断，它改变的是决策周期——从数周压到数秒，使得一次会议内可以完成"跑方案、业务审阅、调参数、再跑方案"的多轮迭代。实证还给出一条部署建议：As-Is 越失衡的省份，引入算法的早期阵痛越明显，上海的保留率只有百分之六十二点九；但优化收益也越大，CV 改善百分之七十六点二，超阈辖区从十七个减到三个。所以对历史失衡较深的省份，应当配合分阶段过渡和客户关系预警机制。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最后说不足和计划。四条。第一，数据范围只有单企业、单时点、三个省份，跨产品线和跨企业类型的泛化性没有验证。第二，也是我认为方法学上最需要坦承的一条：实验设计缺对照与消融，目前"两阶段优于单阶段"是设计论证而不是实证结论，六层聚类初始解和虚拟拆分各自的贡献也没有被分离量化。第三，权重与阈值来自调研偏好和业务经验的混合判断，没有做系统的敏感性分析。第四，第六章的商业化路径判断缺少 POC 级验证。对应的排期在这张图上：九月做三组补充实验——单阶段对照、随机初始解对照、以及"仅虚拟拆分加聚类初始解、模拟退火迭代零次"的基线，沿用已经建立的多次重复运行框架，各做十次；十月加厚文献综述并做格式复核；十一月预答辩与修改；十二月定稿送审。这组补充实验的成本很低但价值很高，做完就能把当前的设计论证升级为可量化的贡献分解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我的汇报到这里，敬请各位老师批评指正。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2ca081abfb7c9b73.png"/>
  <Relationship Id="rId3" Type="http://schemas.openxmlformats.org/officeDocument/2006/relationships/image" Target="../media/image_3afba39b330713e3.png"/>
  <Relationship Id="rId4" Type="http://schemas.openxmlformats.org/officeDocument/2006/relationships/image" Target="../media/image_b31950c500e7ac3b.png"/>
  <Relationship Id="rId5" Type="http://schemas.openxmlformats.org/officeDocument/2006/relationships/image" Target="../media/image_f28c7dfcd6f1779e.png"/>
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  <Relationship Id="rId2" Type="http://schemas.openxmlformats.org/officeDocument/2006/relationships/image" Target="../media/image_2ca081abfb7c9b73.png"/>
  <Relationship Id="rId3" Type="http://schemas.openxmlformats.org/officeDocument/2006/relationships/image" Target="../media/image_3afba39b330713e3.png"/>
  <Relationship Id="rId4" Type="http://schemas.openxmlformats.org/officeDocument/2006/relationships/image" Target="../media/image_e5793889721e19bd.png"/>
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watermark Layout"/>
          <p:cNvPicPr>
            <a:picLocks noChangeAspect="1"/>
          </p:cNvPicPr>
          <p:nvPr/>
        </p:nvPicPr>
        <p:blipFill>
          <a:blip r:embed="rId2">
            <a:alphaModFix amt="5000"/>
          </a:blip>
          <a:stretch>
            <a:fillRect/>
          </a:stretch>
        </p:blipFill>
        <p:spPr>
          <a:xfrm>
            <a:off x="-47625" y="2895600"/>
            <a:ext cx="12296775" cy="3962400"/>
          </a:xfrm>
          <a:prstGeom prst="rect">
            <a:avLst/>
          </a:prstGeom>
        </p:spPr>
      </p:pic>
      <p:pic>
        <p:nvPicPr>
          <p:cNvPr id="3" name="motto Layout"/>
          <p:cNvPicPr>
            <a:picLocks noChangeAspect="1"/>
          </p:cNvPicPr>
          <p:nvPr/>
        </p:nvPicPr>
        <p:blipFill>
          <a:blip r:embed="rId3">
            <a:alphaModFix amt="35000"/>
          </a:blip>
          <a:stretch>
            <a:fillRect/>
          </a:stretch>
        </p:blipFill>
        <p:spPr>
          <a:xfrm>
            <a:off x="3352800" y="6248400"/>
            <a:ext cx="5486400" cy="409575"/>
          </a:xfrm>
          <a:prstGeom prst="rect">
            <a:avLst/>
          </a:prstGeom>
        </p:spPr>
      </p:pic>
      <p:pic>
        <p:nvPicPr>
          <p:cNvPr id="4" name="cover-wordmark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075" y="47625"/>
            <a:ext cx="2171700" cy="714375"/>
          </a:xfrm>
          <a:prstGeom prst="rect">
            <a:avLst/>
          </a:prstGeom>
        </p:spPr>
      </p:pic>
      <p:pic>
        <p:nvPicPr>
          <p:cNvPr id="5" name="cover-skyline Layou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775" y="276225"/>
            <a:ext cx="3000375" cy="409575"/>
          </a:xfrm>
          <a:prstGeom prst="rect">
            <a:avLst/>
          </a:prstGeom>
        </p:spPr>
      </p:pic>
      <p:sp>
        <p:nvSpPr>
          <p:cNvPr id="6" name="cover-rule-top Layout"/>
          <p:cNvSpPr/>
          <p:nvPr/>
        </p:nvSpPr>
        <p:spPr>
          <a:xfrm>
            <a:off x="2047875" y="1714500"/>
            <a:ext cx="8096250" cy="9525"/>
          </a:xfrm>
          <a:custGeom>
            <a:avLst/>
            <a:gdLst/>
            <a:ahLst/>
            <a:cxnLst/>
            <a:rect l="l" t="t" r="r" b="b"/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/>
          <a:ln w="9525">
            <a:solidFill>
              <a:srgbClr val="DBDBDB"/>
            </a:solidFill>
          </a:ln>
        </p:spPr>
      </p:sp>
      <p:sp>
        <p:nvSpPr>
          <p:cNvPr id="7" name="cover-rule-bottom Layout"/>
          <p:cNvSpPr/>
          <p:nvPr/>
        </p:nvSpPr>
        <p:spPr>
          <a:xfrm>
            <a:off x="2047875" y="3429000"/>
            <a:ext cx="8096250" cy="9525"/>
          </a:xfrm>
          <a:custGeom>
            <a:avLst/>
            <a:gdLst/>
            <a:ahLst/>
            <a:cxnLst/>
            <a:rect l="l" t="t" r="r" b="b"/>
            <a:pathLst>
              <a:path w="8096250" h="9525">
                <a:moveTo>
                  <a:pt x="0" y="0"/>
                </a:moveTo>
                <a:lnTo>
                  <a:pt x="8096250" y="0"/>
                </a:lnTo>
              </a:path>
            </a:pathLst>
          </a:custGeom>
          <a:noFill/>
          <a:ln w="9525">
            <a:solidFill>
              <a:srgbClr val="DBDBDB"/>
            </a:solidFill>
          </a:ln>
        </p:spPr>
      </p:sp>
      <p:sp>
        <p:nvSpPr>
          <p:cNvPr id="8" name="cover-title-slot Placeholder"/>
          <p:cNvSpPr>
            <a:spLocks noGrp="1"/>
          </p:cNvSpPr>
          <p:nvPr>
            <p:ph type="title"/>
          </p:nvPr>
        </p:nvSpPr>
        <p:spPr>
          <a:xfrm>
            <a:off x="1524000" y="1973580"/>
            <a:ext cx="9144000" cy="10744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600"/>
            </a:lvl1pPr>
          </a:lstStyle>
          <a:p>
            <a:pPr algn="ctr">
              <a:lnSpc>
                <a:spcPts val="3900"/>
              </a:lnSpc>
            </a:pPr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9" name="cover-subtitle-slot Placeholder"/>
          <p:cNvSpPr>
            <a:spLocks noGrp="1"/>
          </p:cNvSpPr>
          <p:nvPr>
            <p:ph type="body" idx="1"/>
          </p:nvPr>
        </p:nvSpPr>
        <p:spPr>
          <a:xfrm>
            <a:off x="2743200" y="36576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cover-author-slot Placeholder"/>
          <p:cNvSpPr>
            <a:spLocks noGrp="1"/>
          </p:cNvSpPr>
          <p:nvPr>
            <p:ph type="body" idx="2"/>
          </p:nvPr>
        </p:nvSpPr>
        <p:spPr>
          <a:xfrm>
            <a:off x="2743200" y="4476750"/>
            <a:ext cx="67056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cover-date-slot Placeholder"/>
          <p:cNvSpPr>
            <a:spLocks noGrp="1"/>
          </p:cNvSpPr>
          <p:nvPr>
            <p:ph type="body" idx="3"/>
          </p:nvPr>
        </p:nvSpPr>
        <p:spPr>
          <a:xfrm>
            <a:off x="2743200" y="5257800"/>
            <a:ext cx="6705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ctr" marL="0" indent="0">
              <a:buNone/>
            </a:pPr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14368278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c-num-block-1 Layout"/>
          <p:cNvSpPr/>
          <p:nvPr/>
        </p:nvSpPr>
        <p:spPr>
          <a:xfrm>
            <a:off x="609600" y="1143000"/>
            <a:ext cx="914400" cy="914400"/>
          </a:xfrm>
          <a:prstGeom prst="rect">
            <a:avLst/>
          </a:prstGeom>
          <a:solidFill>
            <a:srgbClr val="173A5A"/>
          </a:solidFill>
          <a:ln>
            <a:noFill/>
          </a:ln>
        </p:spPr>
      </p:sp>
      <p:sp>
        <p:nvSpPr>
          <p:cNvPr id="3" name="toc-num-1 Layout"/>
          <p:cNvSpPr txBox="1"/>
          <p:nvPr/>
        </p:nvSpPr>
        <p:spPr>
          <a:xfrm>
            <a:off x="805907" y="1412558"/>
            <a:ext cx="521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4" name="toc-card-1 Layout"/>
          <p:cNvSpPr/>
          <p:nvPr/>
        </p:nvSpPr>
        <p:spPr>
          <a:xfrm>
            <a:off x="1676400" y="1143000"/>
            <a:ext cx="9906000" cy="9144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5" name="toc-rule-1 Layout"/>
          <p:cNvSpPr/>
          <p:nvPr/>
        </p:nvSpPr>
        <p:spPr>
          <a:xfrm>
            <a:off x="2057400" y="1333500"/>
            <a:ext cx="381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6" name="toc-num-block-2 Layout"/>
          <p:cNvSpPr/>
          <p:nvPr/>
        </p:nvSpPr>
        <p:spPr>
          <a:xfrm>
            <a:off x="609600" y="2209800"/>
            <a:ext cx="914400" cy="914400"/>
          </a:xfrm>
          <a:prstGeom prst="rect">
            <a:avLst/>
          </a:prstGeom>
          <a:solidFill>
            <a:srgbClr val="173A5A"/>
          </a:solidFill>
          <a:ln>
            <a:noFill/>
          </a:ln>
        </p:spPr>
      </p:sp>
      <p:sp>
        <p:nvSpPr>
          <p:cNvPr id="7" name="toc-num-2 Layout"/>
          <p:cNvSpPr txBox="1"/>
          <p:nvPr/>
        </p:nvSpPr>
        <p:spPr>
          <a:xfrm>
            <a:off x="805907" y="2479358"/>
            <a:ext cx="521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8" name="toc-card-2 Layout"/>
          <p:cNvSpPr/>
          <p:nvPr/>
        </p:nvSpPr>
        <p:spPr>
          <a:xfrm>
            <a:off x="1676400" y="2209800"/>
            <a:ext cx="9906000" cy="9144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9" name="toc-rule-2 Layout"/>
          <p:cNvSpPr/>
          <p:nvPr/>
        </p:nvSpPr>
        <p:spPr>
          <a:xfrm>
            <a:off x="2057400" y="2400300"/>
            <a:ext cx="381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0" name="toc-num-block-3 Layout"/>
          <p:cNvSpPr/>
          <p:nvPr/>
        </p:nvSpPr>
        <p:spPr>
          <a:xfrm>
            <a:off x="609600" y="3276600"/>
            <a:ext cx="914400" cy="914400"/>
          </a:xfrm>
          <a:prstGeom prst="rect">
            <a:avLst/>
          </a:prstGeom>
          <a:solidFill>
            <a:srgbClr val="173A5A"/>
          </a:solidFill>
          <a:ln>
            <a:noFill/>
          </a:ln>
        </p:spPr>
      </p:sp>
      <p:sp>
        <p:nvSpPr>
          <p:cNvPr id="11" name="toc-num-3 Layout"/>
          <p:cNvSpPr txBox="1"/>
          <p:nvPr/>
        </p:nvSpPr>
        <p:spPr>
          <a:xfrm>
            <a:off x="805907" y="3546158"/>
            <a:ext cx="521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2" name="toc-card-3 Layout"/>
          <p:cNvSpPr/>
          <p:nvPr/>
        </p:nvSpPr>
        <p:spPr>
          <a:xfrm>
            <a:off x="1676400" y="3276600"/>
            <a:ext cx="9906000" cy="9144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13" name="toc-rule-3 Layout"/>
          <p:cNvSpPr/>
          <p:nvPr/>
        </p:nvSpPr>
        <p:spPr>
          <a:xfrm>
            <a:off x="2057400" y="3467100"/>
            <a:ext cx="381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4" name="toc-num-block-4 Layout"/>
          <p:cNvSpPr/>
          <p:nvPr/>
        </p:nvSpPr>
        <p:spPr>
          <a:xfrm>
            <a:off x="609600" y="4343400"/>
            <a:ext cx="914400" cy="914400"/>
          </a:xfrm>
          <a:prstGeom prst="rect">
            <a:avLst/>
          </a:prstGeom>
          <a:solidFill>
            <a:srgbClr val="173A5A"/>
          </a:solidFill>
          <a:ln>
            <a:noFill/>
          </a:ln>
        </p:spPr>
      </p:sp>
      <p:sp>
        <p:nvSpPr>
          <p:cNvPr id="15" name="toc-num-4 Layout"/>
          <p:cNvSpPr txBox="1"/>
          <p:nvPr/>
        </p:nvSpPr>
        <p:spPr>
          <a:xfrm>
            <a:off x="805907" y="4612958"/>
            <a:ext cx="521785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315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16" name="toc-card-4 Layout"/>
          <p:cNvSpPr/>
          <p:nvPr/>
        </p:nvSpPr>
        <p:spPr>
          <a:xfrm>
            <a:off x="1676400" y="4343400"/>
            <a:ext cx="9906000" cy="9144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17" name="toc-rule-4 Layout"/>
          <p:cNvSpPr/>
          <p:nvPr/>
        </p:nvSpPr>
        <p:spPr>
          <a:xfrm>
            <a:off x="2057400" y="4533900"/>
            <a:ext cx="3810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18" name="toc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9" name="toc-item-1-title-slot Placeholder"/>
          <p:cNvSpPr>
            <a:spLocks noGrp="1"/>
          </p:cNvSpPr>
          <p:nvPr>
            <p:ph type="body" idx="1"/>
          </p:nvPr>
        </p:nvSpPr>
        <p:spPr>
          <a:xfrm>
            <a:off x="2038350" y="1409700"/>
            <a:ext cx="9163050" cy="39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0" name="toc-item-1-desc-slot Placeholder"/>
          <p:cNvSpPr>
            <a:spLocks noGrp="1"/>
          </p:cNvSpPr>
          <p:nvPr>
            <p:ph type="body" idx="5"/>
          </p:nvPr>
        </p:nvSpPr>
        <p:spPr>
          <a:xfrm>
            <a:off x="2038350" y="1733550"/>
            <a:ext cx="9163050" cy="288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1" name="toc-item-2-title-slot Placeholder"/>
          <p:cNvSpPr>
            <a:spLocks noGrp="1"/>
          </p:cNvSpPr>
          <p:nvPr>
            <p:ph type="body" idx="2"/>
          </p:nvPr>
        </p:nvSpPr>
        <p:spPr>
          <a:xfrm>
            <a:off x="2038350" y="2476500"/>
            <a:ext cx="9163050" cy="39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2" name="toc-item-2-desc-slot Placeholder"/>
          <p:cNvSpPr>
            <a:spLocks noGrp="1"/>
          </p:cNvSpPr>
          <p:nvPr>
            <p:ph type="body" idx="6"/>
          </p:nvPr>
        </p:nvSpPr>
        <p:spPr>
          <a:xfrm>
            <a:off x="2038350" y="2800350"/>
            <a:ext cx="9163050" cy="288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3" name="toc-item-3-title-slot Placeholder"/>
          <p:cNvSpPr>
            <a:spLocks noGrp="1"/>
          </p:cNvSpPr>
          <p:nvPr>
            <p:ph type="body" idx="3"/>
          </p:nvPr>
        </p:nvSpPr>
        <p:spPr>
          <a:xfrm>
            <a:off x="2038350" y="3543300"/>
            <a:ext cx="9163050" cy="39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4" name="toc-item-3-desc-slot Placeholder"/>
          <p:cNvSpPr>
            <a:spLocks noGrp="1"/>
          </p:cNvSpPr>
          <p:nvPr>
            <p:ph type="body" idx="7"/>
          </p:nvPr>
        </p:nvSpPr>
        <p:spPr>
          <a:xfrm>
            <a:off x="2038350" y="3867150"/>
            <a:ext cx="9163050" cy="288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5" name="toc-item-4-title-slot Placeholder"/>
          <p:cNvSpPr>
            <a:spLocks noGrp="1"/>
          </p:cNvSpPr>
          <p:nvPr>
            <p:ph type="body" idx="4"/>
          </p:nvPr>
        </p:nvSpPr>
        <p:spPr>
          <a:xfrm>
            <a:off x="2038350" y="4610100"/>
            <a:ext cx="9163050" cy="39147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6" name="toc-item-4-desc-slot Placeholder"/>
          <p:cNvSpPr>
            <a:spLocks noGrp="1"/>
          </p:cNvSpPr>
          <p:nvPr>
            <p:ph type="body" idx="8"/>
          </p:nvPr>
        </p:nvSpPr>
        <p:spPr>
          <a:xfrm>
            <a:off x="2038350" y="4933950"/>
            <a:ext cx="9163050" cy="288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350"/>
            </a:lvl1pPr>
          </a:lstStyle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7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689936BA-5F22-4317-9887-FD9319C02E21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352504496"/>
      </p:ext>
    </p:extLst>
  </p:cSld>
  <p:clrMapOvr>
    <a:masterClrMapping/>
  </p:clrMapOvr>
  <p:hf hdr="0" dt="0" ftr="0" sldNum="1"/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整图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-frame Layout"/>
          <p:cNvSpPr/>
          <p:nvPr/>
        </p:nvSpPr>
        <p:spPr>
          <a:xfrm>
            <a:off x="609600" y="1066800"/>
            <a:ext cx="10972800" cy="43053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3" name="page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g-image-slot Placeholder"/>
          <p:cNvSpPr>
            <a:spLocks noGrp="1"/>
          </p:cNvSpPr>
          <p:nvPr>
            <p:ph type="obj" idx="1"/>
          </p:nvPr>
        </p:nvSpPr>
        <p:spPr>
          <a:xfrm>
            <a:off x="685800" y="1143000"/>
            <a:ext cx="10820400" cy="41529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5" name="g-caption-slot Placeholder"/>
          <p:cNvSpPr>
            <a:spLocks noGrp="1"/>
          </p:cNvSpPr>
          <p:nvPr>
            <p:ph type="ftr" idx="2"/>
          </p:nvPr>
        </p:nvSpPr>
        <p:spPr>
          <a:xfrm>
            <a:off x="590550" y="5486400"/>
            <a:ext cx="977265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>
              <a:lnSpc>
                <a:spcPts val="180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6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669AEA75-010A-4D94-8B7F-28254852D17B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573520373"/>
      </p:ext>
    </p:extLst>
  </p:cSld>
  <p:clrMapOvr>
    <a:masterClrMapping/>
  </p:clrMapOvr>
  <p:hf hdr="0" dt="0" ftr="1" sldNum="1"/>
</p:sldLayout>
</file>

<file path=ppt/slideLayouts/slideLayout15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要点横排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-hex-1 Layout"/>
          <p:cNvSpPr/>
          <p:nvPr/>
        </p:nvSpPr>
        <p:spPr>
          <a:xfrm>
            <a:off x="533400" y="158115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0" y="800100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800100"/>
                </a:lnTo>
                <a:lnTo>
                  <a:pt x="1371600" y="1600200"/>
                </a:lnTo>
                <a:lnTo>
                  <a:pt x="457200" y="1600200"/>
                </a:lnTo>
                <a:close/>
              </a:path>
            </a:pathLst>
          </a:custGeom>
          <a:solidFill>
            <a:srgbClr val="173A5A"/>
          </a:solidFill>
          <a:ln>
            <a:noFill/>
          </a:ln>
        </p:spPr>
      </p:sp>
      <p:sp>
        <p:nvSpPr>
          <p:cNvPr id="3" name="e-hex-2 Layout"/>
          <p:cNvSpPr/>
          <p:nvPr/>
        </p:nvSpPr>
        <p:spPr>
          <a:xfrm>
            <a:off x="2857500" y="158115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0" y="800100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800100"/>
                </a:lnTo>
                <a:lnTo>
                  <a:pt x="1371600" y="1600200"/>
                </a:lnTo>
                <a:lnTo>
                  <a:pt x="457200" y="1600200"/>
                </a:lnTo>
                <a:close/>
              </a:path>
            </a:pathLst>
          </a:custGeom>
          <a:solidFill>
            <a:srgbClr val="333F50"/>
          </a:solidFill>
          <a:ln>
            <a:noFill/>
          </a:ln>
        </p:spPr>
      </p:sp>
      <p:sp>
        <p:nvSpPr>
          <p:cNvPr id="4" name="e-hex-3 Layout"/>
          <p:cNvSpPr/>
          <p:nvPr/>
        </p:nvSpPr>
        <p:spPr>
          <a:xfrm>
            <a:off x="5181600" y="158115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0" y="800100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800100"/>
                </a:lnTo>
                <a:lnTo>
                  <a:pt x="1371600" y="1600200"/>
                </a:lnTo>
                <a:lnTo>
                  <a:pt x="457200" y="16002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5" name="e-hex-4 Layout"/>
          <p:cNvSpPr/>
          <p:nvPr/>
        </p:nvSpPr>
        <p:spPr>
          <a:xfrm>
            <a:off x="7505700" y="158115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0" y="800100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800100"/>
                </a:lnTo>
                <a:lnTo>
                  <a:pt x="1371600" y="1600200"/>
                </a:lnTo>
                <a:lnTo>
                  <a:pt x="457200" y="1600200"/>
                </a:lnTo>
                <a:close/>
              </a:path>
            </a:pathLst>
          </a:custGeom>
          <a:solidFill>
            <a:srgbClr val="333F50"/>
          </a:solidFill>
          <a:ln>
            <a:noFill/>
          </a:ln>
        </p:spPr>
      </p:sp>
      <p:sp>
        <p:nvSpPr>
          <p:cNvPr id="6" name="e-hex-5 Layout"/>
          <p:cNvSpPr/>
          <p:nvPr/>
        </p:nvSpPr>
        <p:spPr>
          <a:xfrm>
            <a:off x="9829800" y="1581150"/>
            <a:ext cx="1828800" cy="1600200"/>
          </a:xfrm>
          <a:custGeom>
            <a:avLst/>
            <a:gdLst/>
            <a:ahLst/>
            <a:cxnLst/>
            <a:rect l="l" t="t" r="r" b="b"/>
            <a:pathLst>
              <a:path w="1828800" h="1600200">
                <a:moveTo>
                  <a:pt x="0" y="800100"/>
                </a:moveTo>
                <a:lnTo>
                  <a:pt x="457200" y="0"/>
                </a:lnTo>
                <a:lnTo>
                  <a:pt x="1371600" y="0"/>
                </a:lnTo>
                <a:lnTo>
                  <a:pt x="1828800" y="800100"/>
                </a:lnTo>
                <a:lnTo>
                  <a:pt x="1371600" y="1600200"/>
                </a:lnTo>
                <a:lnTo>
                  <a:pt x="457200" y="1600200"/>
                </a:lnTo>
                <a:close/>
              </a:path>
            </a:pathLst>
          </a:custGeom>
          <a:solidFill>
            <a:srgbClr val="173A5A"/>
          </a:solidFill>
          <a:ln>
            <a:noFill/>
          </a:ln>
        </p:spPr>
      </p:sp>
      <p:sp>
        <p:nvSpPr>
          <p:cNvPr id="7" name="page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e-num-1-slot Placeholder"/>
          <p:cNvSpPr>
            <a:spLocks noGrp="1"/>
          </p:cNvSpPr>
          <p:nvPr>
            <p:ph type="body" idx="1"/>
          </p:nvPr>
        </p:nvSpPr>
        <p:spPr>
          <a:xfrm>
            <a:off x="762000" y="2057400"/>
            <a:ext cx="1371600" cy="6610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9" name="e-title-1-slot Placeholder"/>
          <p:cNvSpPr>
            <a:spLocks noGrp="1"/>
          </p:cNvSpPr>
          <p:nvPr>
            <p:ph type="body" idx="6"/>
          </p:nvPr>
        </p:nvSpPr>
        <p:spPr>
          <a:xfrm>
            <a:off x="381000" y="35433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e-desc-1-slot Placeholder"/>
          <p:cNvSpPr>
            <a:spLocks noGrp="1"/>
          </p:cNvSpPr>
          <p:nvPr>
            <p:ph type="body" idx="11"/>
          </p:nvPr>
        </p:nvSpPr>
        <p:spPr>
          <a:xfrm>
            <a:off x="381000" y="4038600"/>
            <a:ext cx="2133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20"/>
            </a:lvl1pPr>
          </a:lstStyle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1" name="e-num-2-slot Placeholder"/>
          <p:cNvSpPr>
            <a:spLocks noGrp="1"/>
          </p:cNvSpPr>
          <p:nvPr>
            <p:ph type="body" idx="2"/>
          </p:nvPr>
        </p:nvSpPr>
        <p:spPr>
          <a:xfrm>
            <a:off x="3086100" y="2057400"/>
            <a:ext cx="1371600" cy="6610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e-title-2-slot Placeholder"/>
          <p:cNvSpPr>
            <a:spLocks noGrp="1"/>
          </p:cNvSpPr>
          <p:nvPr>
            <p:ph type="body" idx="7"/>
          </p:nvPr>
        </p:nvSpPr>
        <p:spPr>
          <a:xfrm>
            <a:off x="2705100" y="35433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e-desc-2-slot Placeholder"/>
          <p:cNvSpPr>
            <a:spLocks noGrp="1"/>
          </p:cNvSpPr>
          <p:nvPr>
            <p:ph type="body" idx="12"/>
          </p:nvPr>
        </p:nvSpPr>
        <p:spPr>
          <a:xfrm>
            <a:off x="2705100" y="4038600"/>
            <a:ext cx="2133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20"/>
            </a:lvl1pPr>
          </a:lstStyle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e-num-3-slot Placeholder"/>
          <p:cNvSpPr>
            <a:spLocks noGrp="1"/>
          </p:cNvSpPr>
          <p:nvPr>
            <p:ph type="body" idx="3"/>
          </p:nvPr>
        </p:nvSpPr>
        <p:spPr>
          <a:xfrm>
            <a:off x="5410200" y="2057400"/>
            <a:ext cx="1371600" cy="6610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e-title-3-slot Placeholder"/>
          <p:cNvSpPr>
            <a:spLocks noGrp="1"/>
          </p:cNvSpPr>
          <p:nvPr>
            <p:ph type="body" idx="8"/>
          </p:nvPr>
        </p:nvSpPr>
        <p:spPr>
          <a:xfrm>
            <a:off x="5029200" y="35433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e-desc-3-slot Placeholder"/>
          <p:cNvSpPr>
            <a:spLocks noGrp="1"/>
          </p:cNvSpPr>
          <p:nvPr>
            <p:ph type="body" idx="13"/>
          </p:nvPr>
        </p:nvSpPr>
        <p:spPr>
          <a:xfrm>
            <a:off x="5029200" y="4038600"/>
            <a:ext cx="2133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20"/>
            </a:lvl1pPr>
          </a:lstStyle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7" name="e-num-4-slot Placeholder"/>
          <p:cNvSpPr>
            <a:spLocks noGrp="1"/>
          </p:cNvSpPr>
          <p:nvPr>
            <p:ph type="body" idx="4"/>
          </p:nvPr>
        </p:nvSpPr>
        <p:spPr>
          <a:xfrm>
            <a:off x="7734300" y="2057400"/>
            <a:ext cx="1371600" cy="6610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e-title-4-slot Placeholder"/>
          <p:cNvSpPr>
            <a:spLocks noGrp="1"/>
          </p:cNvSpPr>
          <p:nvPr>
            <p:ph type="body" idx="9"/>
          </p:nvPr>
        </p:nvSpPr>
        <p:spPr>
          <a:xfrm>
            <a:off x="7353300" y="35433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9" name="e-desc-4-slot Placeholder"/>
          <p:cNvSpPr>
            <a:spLocks noGrp="1"/>
          </p:cNvSpPr>
          <p:nvPr>
            <p:ph type="body" idx="14"/>
          </p:nvPr>
        </p:nvSpPr>
        <p:spPr>
          <a:xfrm>
            <a:off x="7353300" y="4038600"/>
            <a:ext cx="2133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20"/>
            </a:lvl1pPr>
          </a:lstStyle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0" name="e-num-5-slot Placeholder"/>
          <p:cNvSpPr>
            <a:spLocks noGrp="1"/>
          </p:cNvSpPr>
          <p:nvPr>
            <p:ph type="body" idx="5"/>
          </p:nvPr>
        </p:nvSpPr>
        <p:spPr>
          <a:xfrm>
            <a:off x="10058400" y="2057400"/>
            <a:ext cx="1371600" cy="66103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3300"/>
            </a:lvl1pPr>
          </a:lstStyle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1" name="e-title-5-slot Placeholder"/>
          <p:cNvSpPr>
            <a:spLocks noGrp="1"/>
          </p:cNvSpPr>
          <p:nvPr>
            <p:ph type="body" idx="10"/>
          </p:nvPr>
        </p:nvSpPr>
        <p:spPr>
          <a:xfrm>
            <a:off x="9677400" y="3543300"/>
            <a:ext cx="213360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2" name="e-desc-5-slot Placeholder"/>
          <p:cNvSpPr>
            <a:spLocks noGrp="1"/>
          </p:cNvSpPr>
          <p:nvPr>
            <p:ph type="body" idx="15"/>
          </p:nvPr>
        </p:nvSpPr>
        <p:spPr>
          <a:xfrm>
            <a:off x="9677400" y="4038600"/>
            <a:ext cx="2133600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1420"/>
            </a:lvl1pPr>
          </a:lstStyle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23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1B71E514-4DFE-4E92-AE41-C9ED27B16FA3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842494460"/>
      </p:ext>
    </p:extLst>
  </p:cSld>
  <p:clrMapOvr>
    <a:masterClrMapping/>
  </p:clrMapOvr>
  <p:hf hdr="0" dt="0" ftr="0" sldNum="1"/>
</p:sldLayout>
</file>

<file path=ppt/slideLayouts/slideLayout16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图表加数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-chart-card Layout"/>
          <p:cNvSpPr/>
          <p:nvPr/>
        </p:nvSpPr>
        <p:spPr>
          <a:xfrm>
            <a:off x="609600" y="1447800"/>
            <a:ext cx="5257800" cy="40386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3" name="page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4" name="c-lead-slot Placeholder"/>
          <p:cNvSpPr>
            <a:spLocks noGrp="1"/>
          </p:cNvSpPr>
          <p:nvPr>
            <p:ph type="body" idx="1"/>
          </p:nvPr>
        </p:nvSpPr>
        <p:spPr>
          <a:xfrm>
            <a:off x="590550" y="876300"/>
            <a:ext cx="10991850" cy="4191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800"/>
            </a:lvl1pPr>
          </a:lstStyle>
          <a:p>
            <a:pPr algn="l" marL="0" indent="0">
              <a:buNone/>
            </a:pPr>
            <a:r>
              <a:rPr lang="zh-CN" sz="18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5" name="c-chart-slot Placeholder"/>
          <p:cNvSpPr>
            <a:spLocks noGrp="1"/>
          </p:cNvSpPr>
          <p:nvPr>
            <p:ph type="obj" idx="2"/>
          </p:nvPr>
        </p:nvSpPr>
        <p:spPr>
          <a:xfrm>
            <a:off x="838200" y="1676400"/>
            <a:ext cx="4800600" cy="35814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6" name="c-table-slot Placeholder"/>
          <p:cNvSpPr>
            <a:spLocks noGrp="1"/>
          </p:cNvSpPr>
          <p:nvPr>
            <p:ph type="obj" idx="3"/>
          </p:nvPr>
        </p:nvSpPr>
        <p:spPr>
          <a:xfrm>
            <a:off x="6324600" y="1447800"/>
            <a:ext cx="5257800" cy="403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7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A8F62E9C-F3E5-48BF-9DC3-B6EA39618C8C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4124776220"/>
      </p:ext>
    </p:extLst>
  </p:cSld>
  <p:clrMapOvr>
    <a:masterClrMapping/>
  </p:clrMapOvr>
  <p:hf hdr="0" dt="0" ftr="0" sldNum="1"/>
</p:sldLayout>
</file>

<file path=ppt/slideLayouts/slideLayout17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章节过渡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-band Layout"/>
          <p:cNvSpPr/>
          <p:nvPr/>
        </p:nvSpPr>
        <p:spPr>
          <a:xfrm>
            <a:off x="0" y="1676400"/>
            <a:ext cx="12192000" cy="3505200"/>
          </a:xfrm>
          <a:prstGeom prst="rect">
            <a:avLst/>
          </a:prstGeom>
          <a:solidFill>
            <a:schemeClr val="lt1">
              <a:alpha val="72000"/>
            </a:schemeClr>
          </a:solidFill>
          <a:ln>
            <a:noFill/>
          </a:ln>
        </p:spPr>
      </p:sp>
      <p:sp>
        <p:nvSpPr>
          <p:cNvPr id="3" name="chapter-bar Layout"/>
          <p:cNvSpPr/>
          <p:nvPr/>
        </p:nvSpPr>
        <p:spPr>
          <a:xfrm>
            <a:off x="1219200" y="2133600"/>
            <a:ext cx="76200" cy="2590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</p:sp>
      <p:sp>
        <p:nvSpPr>
          <p:cNvPr id="4" name="chapter-banner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5" name="chapter-num-slot Placeholder"/>
          <p:cNvSpPr>
            <a:spLocks noGrp="1"/>
          </p:cNvSpPr>
          <p:nvPr>
            <p:ph type="body" idx="1"/>
          </p:nvPr>
        </p:nvSpPr>
        <p:spPr>
          <a:xfrm>
            <a:off x="1657350" y="2133600"/>
            <a:ext cx="8061960" cy="152209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8100"/>
            </a:lvl1pPr>
          </a:lstStyle>
          <a:p>
            <a:pPr algn="l" marL="0" indent="0">
              <a:buNone/>
            </a:pPr>
            <a:r>
              <a:rPr lang="zh-CN" sz="8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6" name="chapter-desc-slot Placeholder"/>
          <p:cNvSpPr>
            <a:spLocks noGrp="1"/>
          </p:cNvSpPr>
          <p:nvPr>
            <p:ph type="body" idx="2"/>
          </p:nvPr>
        </p:nvSpPr>
        <p:spPr>
          <a:xfrm>
            <a:off x="1657350" y="3810000"/>
            <a:ext cx="8858250" cy="1028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l" marL="0" indent="0">
              <a:buNone/>
            </a:pPr>
            <a:r>
              <a:rPr lang="zh-CN" sz="19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7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3F294A4B-315D-4127-AB5F-2AC47133B0FA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1754856121"/>
      </p:ext>
    </p:extLst>
  </p:cSld>
  <p:clrMapOvr>
    <a:masterClrMapping/>
  </p:clrMapOvr>
  <p:hf hdr="0" dt="0" ftr="0" sldNum="1"/>
</p:sldLayout>
</file>

<file path=ppt/slideLayouts/slideLayout18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双卡正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-card-1 Layout"/>
          <p:cNvSpPr/>
          <p:nvPr/>
        </p:nvSpPr>
        <p:spPr>
          <a:xfrm>
            <a:off x="609600" y="1143000"/>
            <a:ext cx="5257800" cy="45339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3" name="b-card-1-mark Layout"/>
          <p:cNvSpPr/>
          <p:nvPr/>
        </p:nvSpPr>
        <p:spPr>
          <a:xfrm>
            <a:off x="838200" y="1295400"/>
            <a:ext cx="400050" cy="209550"/>
          </a:xfrm>
          <a:custGeom>
            <a:avLst/>
            <a:gdLst/>
            <a:ahLst/>
            <a:cxnLst/>
            <a:rect l="l" t="t" r="r" b="b"/>
            <a:pathLst>
              <a:path w="400050" h="209550">
                <a:moveTo>
                  <a:pt x="0" y="209550"/>
                </a:moveTo>
                <a:lnTo>
                  <a:pt x="95250" y="0"/>
                </a:lnTo>
                <a:lnTo>
                  <a:pt x="400050" y="0"/>
                </a:lnTo>
                <a:lnTo>
                  <a:pt x="304800" y="2095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b-card-2 Layout"/>
          <p:cNvSpPr/>
          <p:nvPr/>
        </p:nvSpPr>
        <p:spPr>
          <a:xfrm>
            <a:off x="6324600" y="1143000"/>
            <a:ext cx="5257800" cy="4533900"/>
          </a:xfrm>
          <a:prstGeom prst="rect">
            <a:avLst/>
          </a:prstGeom>
          <a:solidFill>
            <a:schemeClr val="lt1"/>
          </a:solidFill>
          <a:ln w="9525">
            <a:solidFill>
              <a:srgbClr val="D6DCE5"/>
            </a:solidFill>
          </a:ln>
        </p:spPr>
      </p:sp>
      <p:sp>
        <p:nvSpPr>
          <p:cNvPr id="5" name="b-card-2-mark Layout"/>
          <p:cNvSpPr/>
          <p:nvPr/>
        </p:nvSpPr>
        <p:spPr>
          <a:xfrm>
            <a:off x="6553200" y="1295400"/>
            <a:ext cx="400050" cy="209550"/>
          </a:xfrm>
          <a:custGeom>
            <a:avLst/>
            <a:gdLst/>
            <a:ahLst/>
            <a:cxnLst/>
            <a:rect l="l" t="t" r="r" b="b"/>
            <a:pathLst>
              <a:path w="400050" h="209550">
                <a:moveTo>
                  <a:pt x="0" y="209550"/>
                </a:moveTo>
                <a:lnTo>
                  <a:pt x="95250" y="0"/>
                </a:lnTo>
                <a:lnTo>
                  <a:pt x="400050" y="0"/>
                </a:lnTo>
                <a:lnTo>
                  <a:pt x="304800" y="2095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page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7" name="b-head-1-slot Placeholder"/>
          <p:cNvSpPr>
            <a:spLocks noGrp="1"/>
          </p:cNvSpPr>
          <p:nvPr>
            <p:ph type="body" idx="1"/>
          </p:nvPr>
        </p:nvSpPr>
        <p:spPr>
          <a:xfrm>
            <a:off x="990600" y="1447800"/>
            <a:ext cx="4495800" cy="48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8" name="b-body-1-slot Placeholder"/>
          <p:cNvSpPr>
            <a:spLocks noGrp="1"/>
          </p:cNvSpPr>
          <p:nvPr>
            <p:ph type="obj" idx="3"/>
          </p:nvPr>
        </p:nvSpPr>
        <p:spPr>
          <a:xfrm>
            <a:off x="990600" y="2019300"/>
            <a:ext cx="4495800" cy="339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650"/>
            </a:lvl1pPr>
          </a:lstStyle>
          <a:p>
            <a:pPr algn="l">
              <a:lnSpc>
                <a:spcPts val="2700"/>
              </a:lnSpc>
            </a:pPr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9" name="b-head-2-slot Placeholder"/>
          <p:cNvSpPr>
            <a:spLocks noGrp="1"/>
          </p:cNvSpPr>
          <p:nvPr>
            <p:ph type="body" idx="2"/>
          </p:nvPr>
        </p:nvSpPr>
        <p:spPr>
          <a:xfrm>
            <a:off x="6705600" y="1447800"/>
            <a:ext cx="4495800" cy="48101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anchorCtr="0">
            <a:noAutofit/>
          </a:bodyPr>
          <a:lstStyle>
            <a:lvl1pPr marL="0" indent="0">
              <a:buNone/>
              <a:defRPr sz="2250"/>
            </a:lvl1pPr>
          </a:lstStyle>
          <a:p>
            <a:pPr algn="l" marL="0" indent="0">
              <a:buNone/>
            </a:pPr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0" name="b-body-2-slot Placeholder"/>
          <p:cNvSpPr>
            <a:spLocks noGrp="1"/>
          </p:cNvSpPr>
          <p:nvPr>
            <p:ph type="obj" idx="4"/>
          </p:nvPr>
        </p:nvSpPr>
        <p:spPr>
          <a:xfrm>
            <a:off x="6705600" y="2019300"/>
            <a:ext cx="4495800" cy="33909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650"/>
            </a:lvl1pPr>
          </a:lstStyle>
          <a:p>
            <a:pPr algn="l">
              <a:lnSpc>
                <a:spcPts val="2700"/>
              </a:lnSpc>
            </a:pPr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Click to add content</a:t>
            </a:r>
            <a:endParaRPr lang="en-US"/>
          </a:p>
        </p:txBody>
      </p:sp>
      <p:sp>
        <p:nvSpPr>
          <p:cNvPr id="11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AAAC7F15-3CD3-434C-950E-46EF9397BBAF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2042960905"/>
      </p:ext>
    </p:extLst>
  </p:cSld>
  <p:clrMapOvr>
    <a:masterClrMapping/>
  </p:clrMapOvr>
  <p:hf hdr="0" dt="0" ftr="0" sldNum="1"/>
</p:sldLayout>
</file>

<file path=ppt/slideLayouts/slideLayout19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宽数据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ge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3" name="d-table-slot Placeholder"/>
          <p:cNvSpPr>
            <a:spLocks noGrp="1"/>
          </p:cNvSpPr>
          <p:nvPr>
            <p:ph type="obj" idx="1"/>
          </p:nvPr>
        </p:nvSpPr>
        <p:spPr>
          <a:xfrm>
            <a:off x="609600" y="1219200"/>
            <a:ext cx="1097280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4" name="d-note-slot Placeholder"/>
          <p:cNvSpPr>
            <a:spLocks noGrp="1"/>
          </p:cNvSpPr>
          <p:nvPr>
            <p:ph type="ftr" idx="2"/>
          </p:nvPr>
        </p:nvSpPr>
        <p:spPr>
          <a:xfrm>
            <a:off x="590550" y="5524500"/>
            <a:ext cx="9315450" cy="5715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l">
              <a:lnSpc>
                <a:spcPts val="195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Footer</a:t>
            </a:r>
            <a:endParaRPr lang="en-US"/>
          </a:p>
        </p:txBody>
      </p:sp>
      <p:sp>
        <p:nvSpPr>
          <p:cNvPr id="5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2F694405-FC65-4DFB-A95B-98450B47220A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3163532506"/>
      </p:ext>
    </p:extLst>
  </p:cSld>
  <p:clrMapOvr>
    <a:masterClrMapping/>
  </p:clrMapOvr>
  <p:hf hdr="0" dt="0" ftr="1" sldNum="1"/>
</p:sldLayout>
</file>

<file path=ppt/slideLayouts/slideLayout20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时间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-axis Layout"/>
          <p:cNvSpPr/>
          <p:nvPr/>
        </p:nvSpPr>
        <p:spPr>
          <a:xfrm>
            <a:off x="1905000" y="16002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BDBDB"/>
            </a:solidFill>
          </a:ln>
        </p:spPr>
      </p:sp>
      <p:sp>
        <p:nvSpPr>
          <p:cNvPr id="3" name="f-grid-1 Layout"/>
          <p:cNvSpPr/>
          <p:nvPr/>
        </p:nvSpPr>
        <p:spPr>
          <a:xfrm>
            <a:off x="1905000" y="22860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4" name="f-grid-2 Layout"/>
          <p:cNvSpPr/>
          <p:nvPr/>
        </p:nvSpPr>
        <p:spPr>
          <a:xfrm>
            <a:off x="1905000" y="28194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5" name="f-grid-3 Layout"/>
          <p:cNvSpPr/>
          <p:nvPr/>
        </p:nvSpPr>
        <p:spPr>
          <a:xfrm>
            <a:off x="1905000" y="33528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6" name="f-grid-4 Layout"/>
          <p:cNvSpPr/>
          <p:nvPr/>
        </p:nvSpPr>
        <p:spPr>
          <a:xfrm>
            <a:off x="1905000" y="38862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7" name="f-grid-5 Layout"/>
          <p:cNvSpPr/>
          <p:nvPr/>
        </p:nvSpPr>
        <p:spPr>
          <a:xfrm>
            <a:off x="1905000" y="44196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8" name="f-grid-6 Layout"/>
          <p:cNvSpPr/>
          <p:nvPr/>
        </p:nvSpPr>
        <p:spPr>
          <a:xfrm>
            <a:off x="1905000" y="49530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9" name="f-grid-7 Layout"/>
          <p:cNvSpPr/>
          <p:nvPr/>
        </p:nvSpPr>
        <p:spPr>
          <a:xfrm>
            <a:off x="1905000" y="5486400"/>
            <a:ext cx="9372600" cy="9525"/>
          </a:xfrm>
          <a:custGeom>
            <a:avLst/>
            <a:gdLst/>
            <a:ahLst/>
            <a:cxnLst/>
            <a:rect l="l" t="t" r="r" b="b"/>
            <a:pathLst>
              <a:path w="9372600" h="9525">
                <a:moveTo>
                  <a:pt x="0" y="0"/>
                </a:moveTo>
                <a:lnTo>
                  <a:pt x="9372600" y="0"/>
                </a:lnTo>
              </a:path>
            </a:pathLst>
          </a:custGeom>
          <a:noFill/>
          <a:ln w="9525">
            <a:solidFill>
              <a:srgbClr val="D6DCE5"/>
            </a:solidFill>
          </a:ln>
        </p:spPr>
      </p:sp>
      <p:sp>
        <p:nvSpPr>
          <p:cNvPr id="10" name="page-title-slot Placeholder"/>
          <p:cNvSpPr>
            <a:spLocks noGrp="1"/>
          </p:cNvSpPr>
          <p:nvPr>
            <p:ph type="title"/>
          </p:nvPr>
        </p:nvSpPr>
        <p:spPr>
          <a:xfrm>
            <a:off x="1066800" y="114300"/>
            <a:ext cx="7620000" cy="53277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3150"/>
            </a:lvl1pPr>
          </a:lstStyle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11" name="f-label-1-slot Placeholder"/>
          <p:cNvSpPr>
            <a:spLocks noGrp="1"/>
          </p:cNvSpPr>
          <p:nvPr>
            <p:ph type="body" idx="1"/>
          </p:nvPr>
        </p:nvSpPr>
        <p:spPr>
          <a:xfrm>
            <a:off x="609600" y="19050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2" name="f-label-2-slot Placeholder"/>
          <p:cNvSpPr>
            <a:spLocks noGrp="1"/>
          </p:cNvSpPr>
          <p:nvPr>
            <p:ph type="body" idx="2"/>
          </p:nvPr>
        </p:nvSpPr>
        <p:spPr>
          <a:xfrm>
            <a:off x="609600" y="24384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3" name="f-label-3-slot Placeholder"/>
          <p:cNvSpPr>
            <a:spLocks noGrp="1"/>
          </p:cNvSpPr>
          <p:nvPr>
            <p:ph type="body" idx="3"/>
          </p:nvPr>
        </p:nvSpPr>
        <p:spPr>
          <a:xfrm>
            <a:off x="609600" y="29718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4" name="f-label-4-slot Placeholder"/>
          <p:cNvSpPr>
            <a:spLocks noGrp="1"/>
          </p:cNvSpPr>
          <p:nvPr>
            <p:ph type="body" idx="4"/>
          </p:nvPr>
        </p:nvSpPr>
        <p:spPr>
          <a:xfrm>
            <a:off x="609600" y="35052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5" name="f-label-5-slot Placeholder"/>
          <p:cNvSpPr>
            <a:spLocks noGrp="1"/>
          </p:cNvSpPr>
          <p:nvPr>
            <p:ph type="body" idx="5"/>
          </p:nvPr>
        </p:nvSpPr>
        <p:spPr>
          <a:xfrm>
            <a:off x="609600" y="40386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6" name="f-label-6-slot Placeholder"/>
          <p:cNvSpPr>
            <a:spLocks noGrp="1"/>
          </p:cNvSpPr>
          <p:nvPr>
            <p:ph type="body" idx="6"/>
          </p:nvPr>
        </p:nvSpPr>
        <p:spPr>
          <a:xfrm>
            <a:off x="609600" y="45720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7" name="f-label-7-slot Placeholder"/>
          <p:cNvSpPr>
            <a:spLocks noGrp="1"/>
          </p:cNvSpPr>
          <p:nvPr>
            <p:ph type="body" idx="7"/>
          </p:nvPr>
        </p:nvSpPr>
        <p:spPr>
          <a:xfrm>
            <a:off x="609600" y="5105400"/>
            <a:ext cx="1219200" cy="381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500"/>
            </a:lvl1pPr>
          </a:lstStyle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  <p:sp>
        <p:nvSpPr>
          <p:cNvPr id="18" name="f-bars-slot Placeholder"/>
          <p:cNvSpPr>
            <a:spLocks noGrp="1"/>
          </p:cNvSpPr>
          <p:nvPr>
            <p:ph type="obj" idx="8"/>
          </p:nvPr>
        </p:nvSpPr>
        <p:spPr>
          <a:xfrm>
            <a:off x="1905000" y="1752600"/>
            <a:ext cx="9372600" cy="3733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t>Click to add content</a:t>
            </a:r>
            <a:endParaRPr lang="en-US"/>
          </a:p>
        </p:txBody>
      </p:sp>
      <p:sp>
        <p:nvSpPr>
          <p:cNvPr id="19" name="page-num-slot Placeholder"/>
          <p:cNvSpPr>
            <a:spLocks noGrp="1"/>
          </p:cNvSpPr>
          <p:nvPr>
            <p:ph type="sldNum" idx="99"/>
          </p:nvPr>
        </p:nvSpPr>
        <p:spPr>
          <a:xfrm>
            <a:off x="10493502" y="5753100"/>
            <a:ext cx="1107948" cy="2505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1350"/>
            </a:lvl1pPr>
          </a:lstStyle>
          <a:p>
            <a:pPr algn="r"/>
            <a:fld id="{2668BC95-19B8-436F-9447-94DD1BB8476A}" type="slidenum"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‹#›</a:t>
            </a:fld>
            <a:endParaRPr lang="en-US"/>
          </a:p>
        </p:txBody>
      </p:sp>
    </p:spTree>
    <p:extLst>
      <p:ext uri="{BB962C8B-B14F-4D97-AF65-F5344CB8AC3E}">
        <p14:creationId val="784224762"/>
      </p:ext>
    </p:extLst>
  </p:cSld>
  <p:clrMapOvr>
    <a:masterClrMapping/>
  </p:clrMapOvr>
  <p:hf hdr="0" dt="0" ftr="0" sldNum="1"/>
</p:sldLayout>
</file>

<file path=ppt/slideLayouts/slideLayout21.xml><?xml version="1.0" encoding="utf-8"?>
<p:sldLayout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type="cust" preserve="1" showMasterSp="1">
  <p:cSld name="封底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ending-watermark Layout"/>
          <p:cNvPicPr>
            <a:picLocks noChangeAspect="1"/>
          </p:cNvPicPr>
          <p:nvPr/>
        </p:nvPicPr>
        <p:blipFill>
          <a:blip r:embed="rId2">
            <a:alphaModFix amt="20000"/>
          </a:blip>
          <a:stretch>
            <a:fillRect/>
          </a:stretch>
        </p:blipFill>
        <p:spPr>
          <a:xfrm>
            <a:off x="-47625" y="2895600"/>
            <a:ext cx="12296775" cy="3962400"/>
          </a:xfrm>
          <a:prstGeom prst="rect">
            <a:avLst/>
          </a:prstGeom>
        </p:spPr>
      </p:pic>
      <p:pic>
        <p:nvPicPr>
          <p:cNvPr id="3" name="motto Layout"/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3352800" y="6248400"/>
            <a:ext cx="5486400" cy="409575"/>
          </a:xfrm>
          <a:prstGeom prst="rect">
            <a:avLst/>
          </a:prstGeom>
        </p:spPr>
      </p:pic>
      <p:pic>
        <p:nvPicPr>
          <p:cNvPr id="4" name="ending-emblem Layou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7325" y="857250"/>
            <a:ext cx="1657350" cy="1657350"/>
          </a:xfrm>
          <a:prstGeom prst="rect">
            <a:avLst/>
          </a:prstGeom>
        </p:spPr>
      </p:pic>
      <p:sp>
        <p:nvSpPr>
          <p:cNvPr id="5" name="ending-rule-left Layout"/>
          <p:cNvSpPr/>
          <p:nvPr/>
        </p:nvSpPr>
        <p:spPr>
          <a:xfrm>
            <a:off x="304800" y="3429000"/>
            <a:ext cx="2200275" cy="9525"/>
          </a:xfrm>
          <a:custGeom>
            <a:avLst/>
            <a:gdLst/>
            <a:ahLst/>
            <a:cxnLst/>
            <a:rect l="l" t="t" r="r" b="b"/>
            <a:pathLst>
              <a:path w="2200275" h="9525">
                <a:moveTo>
                  <a:pt x="0" y="0"/>
                </a:moveTo>
                <a:lnTo>
                  <a:pt x="2200275" y="0"/>
                </a:lnTo>
              </a:path>
            </a:pathLst>
          </a:custGeom>
          <a:noFill/>
          <a:ln w="9525">
            <a:solidFill>
              <a:srgbClr val="FFFFFF">
                <a:alpha val="55000"/>
              </a:srgbClr>
            </a:solidFill>
          </a:ln>
        </p:spPr>
      </p:sp>
      <p:sp>
        <p:nvSpPr>
          <p:cNvPr id="6" name="ending-rule-right Layout"/>
          <p:cNvSpPr/>
          <p:nvPr/>
        </p:nvSpPr>
        <p:spPr>
          <a:xfrm>
            <a:off x="9686925" y="3429000"/>
            <a:ext cx="2200275" cy="9525"/>
          </a:xfrm>
          <a:custGeom>
            <a:avLst/>
            <a:gdLst/>
            <a:ahLst/>
            <a:cxnLst/>
            <a:rect l="l" t="t" r="r" b="b"/>
            <a:pathLst>
              <a:path w="2200275" h="9525">
                <a:moveTo>
                  <a:pt x="0" y="0"/>
                </a:moveTo>
                <a:lnTo>
                  <a:pt x="2200275" y="0"/>
                </a:lnTo>
              </a:path>
            </a:pathLst>
          </a:custGeom>
          <a:noFill/>
          <a:ln w="9525">
            <a:solidFill>
              <a:srgbClr val="FFFFFF">
                <a:alpha val="55000"/>
              </a:srgbClr>
            </a:solidFill>
          </a:ln>
        </p:spPr>
      </p:sp>
      <p:sp>
        <p:nvSpPr>
          <p:cNvPr id="7" name="ending-thanks-slot Placeholder"/>
          <p:cNvSpPr>
            <a:spLocks noGrp="1"/>
          </p:cNvSpPr>
          <p:nvPr>
            <p:ph type="title"/>
          </p:nvPr>
        </p:nvSpPr>
        <p:spPr>
          <a:xfrm>
            <a:off x="2743200" y="3048000"/>
            <a:ext cx="6705600" cy="105727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>
              <a:defRPr sz="6000"/>
            </a:lvl1pPr>
          </a:lstStyle>
          <a:p>
            <a:pPr algn="ctr"/>
            <a:r>
              <a:rPr lang="zh-CN" sz="6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Click to add title</a:t>
            </a:r>
            <a:endParaRPr lang="en-US"/>
          </a:p>
        </p:txBody>
      </p:sp>
      <p:sp>
        <p:nvSpPr>
          <p:cNvPr id="8" name="ending-subtitle-slot Placeholder"/>
          <p:cNvSpPr>
            <a:spLocks noGrp="1"/>
          </p:cNvSpPr>
          <p:nvPr>
            <p:ph type="body" idx="1"/>
          </p:nvPr>
        </p:nvSpPr>
        <p:spPr>
          <a:xfrm>
            <a:off x="2743200" y="4267200"/>
            <a:ext cx="6705600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anchorCtr="0">
            <a:noAutofit/>
          </a:bodyPr>
          <a:lstStyle>
            <a:lvl1pPr marL="0" indent="0">
              <a:buNone/>
              <a:defRPr sz="1950"/>
            </a:lvl1pPr>
          </a:lstStyle>
          <a:p>
            <a:pPr algn="ctr" marL="0" indent="0">
              <a:buNone/>
            </a:pPr>
            <a:r>
              <a: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Click to add text</a:t>
            </a:r>
            <a:endParaRPr lang="en-US"/>
          </a:p>
        </p:txBody>
      </p:sp>
    </p:spTree>
    <p:extLst>
      <p:ext uri="{BB962C8B-B14F-4D97-AF65-F5344CB8AC3E}">
        <p14:creationId val="68638674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21.xml"/>
</Relationships>
</file>

<file path=ppt/slideMasters/_rels/slideMaster2.xml.rels><?xml version='1.0' encoding='UTF-8' standalone='yes'?>
<Relationships xmlns="http://schemas.openxmlformats.org/package/2006/relationships"><Relationship Id="rId12" Type="http://schemas.openxmlformats.org/officeDocument/2006/relationships/theme" Target="../theme/theme3.xml"/>  <Relationship Id="rId13" Type="http://schemas.openxmlformats.org/officeDocument/2006/relationships/image" Target="../media/image_5b42fb873bc23058.png"/>
  <Relationship Id="rId14" Type="http://schemas.openxmlformats.org/officeDocument/2006/relationships/image" Target="../media/image_e5793889721e19bd.png"/>
  <Relationship Id="rId15" Type="http://schemas.openxmlformats.org/officeDocument/2006/relationships/image" Target="../media/image_f28c7dfcd6f1779e.png"/>
  <Relationship Id="rId16" Type="http://schemas.openxmlformats.org/officeDocument/2006/relationships/slideLayout" Target="../slideLayouts/slideLayout13.xml"/>
  <Relationship Id="rId17" Type="http://schemas.openxmlformats.org/officeDocument/2006/relationships/slideLayout" Target="../slideLayouts/slideLayout14.xml"/>
  <Relationship Id="rId18" Type="http://schemas.openxmlformats.org/officeDocument/2006/relationships/slideLayout" Target="../slideLayouts/slideLayout15.xml"/>
  <Relationship Id="rId19" Type="http://schemas.openxmlformats.org/officeDocument/2006/relationships/slideLayout" Target="../slideLayouts/slideLayout16.xml"/>
  <Relationship Id="rId20" Type="http://schemas.openxmlformats.org/officeDocument/2006/relationships/slideLayout" Target="../slideLayouts/slideLayout17.xml"/>
  <Relationship Id="rId21" Type="http://schemas.openxmlformats.org/officeDocument/2006/relationships/slideLayout" Target="../slideLayouts/slideLayout18.xml"/>
  <Relationship Id="rId22" Type="http://schemas.openxmlformats.org/officeDocument/2006/relationships/slideLayout" Target="../slideLayouts/slideLayout19.xml"/>
  <Relationship Id="rId23" Type="http://schemas.openxmlformats.org/officeDocument/2006/relationships/slideLayout" Target="../slideLayouts/slideLayout20.xml"/>
</Relationships>
</file>

<file path=ppt/slideMasters/slideMaster1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JTU Brand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9" r:id="rId14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>
  <p:cSld name="SJTU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-master-bg Master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-master-banner Master"/>
          <p:cNvSpPr/>
          <p:nvPr/>
        </p:nvSpPr>
        <p:spPr>
          <a:xfrm>
            <a:off x="0" y="0"/>
            <a:ext cx="12192000" cy="685800"/>
          </a:xfrm>
          <a:custGeom>
            <a:avLst/>
            <a:gdLst/>
            <a:ahLst/>
            <a:cxnLst/>
            <a:rect l="l" t="t" r="r" b="b"/>
            <a:pathLst>
              <a:path w="12192000" h="685800">
                <a:moveTo>
                  <a:pt x="0" y="685800"/>
                </a:moveTo>
                <a:lnTo>
                  <a:pt x="304800" y="0"/>
                </a:lnTo>
                <a:lnTo>
                  <a:pt x="12192000" y="0"/>
                </a:lnTo>
                <a:lnTo>
                  <a:pt x="11887200" y="6858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4" name="content-master-emblem Master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3850" y="76200"/>
            <a:ext cx="542925" cy="542925"/>
          </a:xfrm>
          <a:prstGeom prst="rect">
            <a:avLst/>
          </a:prstGeom>
        </p:spPr>
      </p:pic>
      <p:sp>
        <p:nvSpPr>
          <p:cNvPr id="5" name="content-master-mark-a Master"/>
          <p:cNvSpPr/>
          <p:nvPr/>
        </p:nvSpPr>
        <p:spPr>
          <a:xfrm>
            <a:off x="11430000" y="123825"/>
            <a:ext cx="476250" cy="238125"/>
          </a:xfrm>
          <a:custGeom>
            <a:avLst/>
            <a:gdLst/>
            <a:ahLst/>
            <a:cxnLst/>
            <a:rect l="l" t="t" r="r" b="b"/>
            <a:pathLst>
              <a:path w="476250" h="238125">
                <a:moveTo>
                  <a:pt x="0" y="238125"/>
                </a:moveTo>
                <a:lnTo>
                  <a:pt x="104775" y="0"/>
                </a:lnTo>
                <a:lnTo>
                  <a:pt x="476250" y="0"/>
                </a:lnTo>
                <a:lnTo>
                  <a:pt x="361950" y="23812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6" name="content-master-mark-b Master"/>
          <p:cNvSpPr/>
          <p:nvPr/>
        </p:nvSpPr>
        <p:spPr>
          <a:xfrm>
            <a:off x="11020425" y="323850"/>
            <a:ext cx="466725" cy="238125"/>
          </a:xfrm>
          <a:custGeom>
            <a:avLst/>
            <a:gdLst/>
            <a:ahLst/>
            <a:cxnLst/>
            <a:rect l="l" t="t" r="r" b="b"/>
            <a:pathLst>
              <a:path w="466725" h="238125">
                <a:moveTo>
                  <a:pt x="0" y="238125"/>
                </a:moveTo>
                <a:lnTo>
                  <a:pt x="104775" y="0"/>
                </a:lnTo>
                <a:lnTo>
                  <a:pt x="466725" y="0"/>
                </a:lnTo>
                <a:lnTo>
                  <a:pt x="361950" y="238125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pic>
        <p:nvPicPr>
          <p:cNvPr id="7" name="content-master-skyline Master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038850"/>
            <a:ext cx="12163425" cy="409575"/>
          </a:xfrm>
          <a:prstGeom prst="rect">
            <a:avLst/>
          </a:prstGeom>
        </p:spPr>
      </p:pic>
    </p:spTree>
    <p:extLst>
      <p:ext uri="{BB962C8B-B14F-4D97-AF65-F5344CB8AC3E}">
        <p14:creationId val="3950275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image" Target="../media/image_2ca081abfb7c9b73.png"/>
  <Relationship Id="rId3" Type="http://schemas.openxmlformats.org/officeDocument/2006/relationships/image" Target="../media/image_3afba39b330713e3.png"/>
  <Relationship Id="rId4" Type="http://schemas.openxmlformats.org/officeDocument/2006/relationships/image" Target="../media/image_b31950c500e7ac3b.png"/>
  <Relationship Id="rId5" Type="http://schemas.openxmlformats.org/officeDocument/2006/relationships/image" Target="../media/image_f28c7dfcd6f1779e.png"/>
  <Relationship Id="rId6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image" Target="../media/image_9249a601f33d86b9.png"/>
  <Relationship Id="rId6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5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image" Target="../media/image_a0d679cddfd52ce2.png"/>
  <Relationship Id="rId6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image" Target="../media/image_2f70e579c642d2c4.png"/>
  <Relationship Id="rId6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8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image" Target="../media/image_b46d301a64ec719f.png"/>
  <Relationship Id="rId6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7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6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image" Target="../media/image_744d5d1881c55b23.png"/>
  <Relationship Id="rId6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9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image" Target="../media/image_c18a4855243bb095.png"/>
  <Relationship Id="rId6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0.xml"/>
  <Relationship Id="rId2" Type="http://schemas.openxmlformats.org/officeDocument/2006/relationships/image" Target="../media/image_5b42fb873bc23058.png"/>
  <Relationship Id="rId3" Type="http://schemas.openxmlformats.org/officeDocument/2006/relationships/image" Target="../media/image_e5793889721e19bd.png"/>
  <Relationship Id="rId4" Type="http://schemas.openxmlformats.org/officeDocument/2006/relationships/image" Target="../media/image_f28c7dfcd6f1779e.png"/>
  <Relationship Id="rId5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21.xml"/>
  <Relationship Id="rId2" Type="http://schemas.openxmlformats.org/officeDocument/2006/relationships/image" Target="../media/image_2ca081abfb7c9b73.png"/>
  <Relationship Id="rId3" Type="http://schemas.openxmlformats.org/officeDocument/2006/relationships/image" Target="../media/image_3afba39b330713e3.png"/>
  <Relationship Id="rId4" Type="http://schemas.openxmlformats.org/officeDocument/2006/relationships/image" Target="../media/image_e5793889721e19bd.png"/>
  <Relationship Id="rId5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ver-title-slot Placeholder Carrier"/>
          <p:cNvSpPr txBox="1"/>
          <p:nvPr>
            <p:ph type="title"/>
          </p:nvPr>
        </p:nvSpPr>
        <p:spPr>
          <a:xfrm>
            <a:off x="3209353" y="1983105"/>
            <a:ext cx="5773293" cy="11993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>
              <a:lnSpc>
                <a:spcPts val="3900"/>
              </a:lnSpc>
            </a:pPr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运筹优化算法在药企</a:t>
            </a:r>
            <a:br/>
            <a:r>
              <a:rPr lang="zh-CN" sz="3600" b="1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SFE 辖区分配中的应用研究</a:t>
            </a:r>
          </a:p>
        </p:txBody>
      </p:sp>
      <p:sp>
        <p:nvSpPr>
          <p:cNvPr id="10" name="cover-subtitle-slot Placeholder Carrier"/>
          <p:cNvSpPr txBox="1"/>
          <p:nvPr>
            <p:ph type="body" idx="1"/>
          </p:nvPr>
        </p:nvSpPr>
        <p:spPr>
          <a:xfrm>
            <a:off x="4678451" y="3770948"/>
            <a:ext cx="2835097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MBA 学位论文中期答辩</a:t>
            </a:r>
          </a:p>
        </p:txBody>
      </p:sp>
      <p:sp>
        <p:nvSpPr>
          <p:cNvPr id="11" name="cover-author-slot Placeholder Carrier"/>
          <p:cNvSpPr txBox="1"/>
          <p:nvPr>
            <p:ph type="body" idx="2"/>
          </p:nvPr>
        </p:nvSpPr>
        <p:spPr>
          <a:xfrm>
            <a:off x="4446069" y="4637722"/>
            <a:ext cx="329986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b="1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陈一　学号 124120935584</a:t>
            </a:r>
          </a:p>
        </p:txBody>
      </p:sp>
      <p:sp>
        <p:nvSpPr>
          <p:cNvPr id="12" name="cover-date-slot Placeholder Carrier"/>
          <p:cNvSpPr txBox="1"/>
          <p:nvPr>
            <p:ph type="body" idx="3"/>
          </p:nvPr>
        </p:nvSpPr>
        <p:spPr>
          <a:xfrm>
            <a:off x="5402313" y="5339715"/>
            <a:ext cx="1387373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80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2026 年 9 月</a:t>
            </a:r>
          </a:p>
        </p:txBody>
      </p:sp>
    </p:spTree>
  </p:cSld>
  <p:clrMapOvr>
    <a:masterClrMapping/>
  </p:clrMapOvr>
  <p:transition p14:dur="400">
    <p:fade/>
  </p:transition>
</p:sld>
</file>

<file path=ppt/slides/slide2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oc-title-slot Placeholder Carrier"/>
          <p:cNvSpPr txBox="1"/>
          <p:nvPr>
            <p:ph type="title"/>
          </p:nvPr>
        </p:nvSpPr>
        <p:spPr>
          <a:xfrm>
            <a:off x="1146048" y="145733"/>
            <a:ext cx="105609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目 录</a:t>
            </a:r>
          </a:p>
        </p:txBody>
      </p:sp>
      <p:sp>
        <p:nvSpPr>
          <p:cNvPr id="25" name="toc-item-1-title-slot Placeholder Carrier"/>
          <p:cNvSpPr txBox="1"/>
          <p:nvPr>
            <p:ph type="body" idx="1"/>
          </p:nvPr>
        </p:nvSpPr>
        <p:spPr>
          <a:xfrm>
            <a:off x="2047494" y="1484948"/>
            <a:ext cx="2224888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问题为什么值得做</a:t>
            </a:r>
          </a:p>
        </p:txBody>
      </p:sp>
      <p:sp>
        <p:nvSpPr>
          <p:cNvPr id="26" name="toc-item-1-desc-slot Placeholder Carrier"/>
          <p:cNvSpPr txBox="1"/>
          <p:nvPr>
            <p:ph type="body" idx="5"/>
          </p:nvPr>
        </p:nvSpPr>
        <p:spPr>
          <a:xfrm>
            <a:off x="2050542" y="1797368"/>
            <a:ext cx="5593042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政策三重压力下的存量博弈、工具缺位，以及 12 位从业者的调研锚点</a:t>
            </a:r>
          </a:p>
        </p:txBody>
      </p:sp>
      <p:sp>
        <p:nvSpPr>
          <p:cNvPr id="27" name="toc-item-2-title-slot Placeholder Carrier"/>
          <p:cNvSpPr txBox="1"/>
          <p:nvPr>
            <p:ph type="body" idx="2"/>
          </p:nvPr>
        </p:nvSpPr>
        <p:spPr>
          <a:xfrm>
            <a:off x="2047494" y="2551748"/>
            <a:ext cx="139798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模型与算法</a:t>
            </a:r>
          </a:p>
        </p:txBody>
      </p:sp>
      <p:sp>
        <p:nvSpPr>
          <p:cNvPr id="28" name="toc-item-2-desc-slot Placeholder Carrier"/>
          <p:cNvSpPr txBox="1"/>
          <p:nvPr>
            <p:ph type="body" idx="6"/>
          </p:nvPr>
        </p:nvSpPr>
        <p:spPr>
          <a:xfrm>
            <a:off x="2050542" y="2864168"/>
            <a:ext cx="5577954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模型 (P) 的目标与约束、综合价值指数 Index、两阶段解耦求解架构</a:t>
            </a:r>
          </a:p>
        </p:txBody>
      </p:sp>
      <p:sp>
        <p:nvSpPr>
          <p:cNvPr id="29" name="toc-item-3-title-slot Placeholder Carrier"/>
          <p:cNvSpPr txBox="1"/>
          <p:nvPr>
            <p:ph type="body" idx="3"/>
          </p:nvPr>
        </p:nvSpPr>
        <p:spPr>
          <a:xfrm>
            <a:off x="2047494" y="36185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实证与能力边界</a:t>
            </a:r>
          </a:p>
        </p:txBody>
      </p:sp>
      <p:sp>
        <p:nvSpPr>
          <p:cNvPr id="30" name="toc-item-3-desc-slot Placeholder Carrier"/>
          <p:cNvSpPr txBox="1"/>
          <p:nvPr>
            <p:ph type="body" idx="7"/>
          </p:nvPr>
        </p:nvSpPr>
        <p:spPr>
          <a:xfrm>
            <a:off x="2050542" y="3930968"/>
            <a:ext cx="533861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上海 / 湖南 / 新疆三种地理形态的验证结果，以及算法失效的地方</a:t>
            </a:r>
          </a:p>
        </p:txBody>
      </p:sp>
      <p:sp>
        <p:nvSpPr>
          <p:cNvPr id="31" name="toc-item-4-title-slot Placeholder Carrier"/>
          <p:cNvSpPr txBox="1"/>
          <p:nvPr>
            <p:ph type="body" idx="4"/>
          </p:nvPr>
        </p:nvSpPr>
        <p:spPr>
          <a:xfrm>
            <a:off x="2047494" y="468534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落地与下一阶段</a:t>
            </a:r>
          </a:p>
        </p:txBody>
      </p:sp>
      <p:sp>
        <p:nvSpPr>
          <p:cNvPr id="32" name="toc-item-4-desc-slot Placeholder Carrier"/>
          <p:cNvSpPr txBox="1"/>
          <p:nvPr>
            <p:ph type="body" idx="8"/>
          </p:nvPr>
        </p:nvSpPr>
        <p:spPr>
          <a:xfrm>
            <a:off x="2050542" y="4997768"/>
            <a:ext cx="4738878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算法基线加人工微调的协同机制、四条研究不足与补救排期</a:t>
            </a:r>
          </a:p>
        </p:txBody>
      </p:sp>
      <p:sp>
        <p:nvSpPr>
          <p:cNvPr id="33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2 / 16</a:t>
            </a:r>
          </a:p>
        </p:txBody>
      </p:sp>
    </p:spTree>
  </p:cSld>
  <p:clrMapOvr>
    <a:masterClrMapping/>
  </p:clrMapOvr>
  <p:transition p14:dur="400">
    <p:fade/>
  </p:transition>
</p:sld>
</file>

<file path=ppt/slides/slide3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-slot Placeholder Carrier"/>
          <p:cNvSpPr txBox="1"/>
          <p:nvPr>
            <p:ph type="title"/>
          </p:nvPr>
        </p:nvSpPr>
        <p:spPr>
          <a:xfrm>
            <a:off x="1146048" y="145733"/>
            <a:ext cx="575353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销售额 +50%，一线人数 −8%</a:t>
            </a:r>
          </a:p>
        </p:txBody>
      </p:sp>
      <p:pic>
        <p:nvPicPr>
          <p:cNvPr id="10" name="g-image-slot Placeholder Carrier"/>
          <p:cNvPicPr>
            <a:picLocks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2986088" y="1600200"/>
            <a:ext cx="6218872" cy="3695700"/>
          </a:xfrm>
          <a:prstGeom prst="rect">
            <a:avLst/>
          </a:prstGeom>
        </p:spPr>
      </p:pic>
      <p:sp>
        <p:nvSpPr>
          <p:cNvPr id="11" name="g-caption-slot Placeholder Carrier"/>
          <p:cNvSpPr txBox="1"/>
          <p:nvPr>
            <p:ph type="ftr" idx="2"/>
          </p:nvPr>
        </p:nvSpPr>
        <p:spPr>
          <a:xfrm>
            <a:off x="602742" y="5531168"/>
            <a:ext cx="7214616" cy="4926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销售额与一线人数的剪刀差意味着人均负荷持续上升，辖区怎么分从后台事务变成了效率杠杆。</a:t>
            </a:r>
            <a:br/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数据来源：论文 1.1 节行业数据。</a:t>
            </a:r>
          </a:p>
        </p:txBody>
      </p:sp>
      <p:sp>
        <p:nvSpPr>
          <p:cNvPr id="12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3 / 16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838200" y="1219200"/>
            <a:ext cx="8695925" cy="280225"/>
            <a:chOff x="838200" y="1219200"/>
            <a:chExt cx="8695925" cy="280225"/>
          </a:xfrm>
        </p:grpSpPr>
        <p:sp>
          <p:nvSpPr>
            <p:cNvPr id="13" name="Rectangle 13"/>
            <p:cNvSpPr/>
            <p:nvPr/>
          </p:nvSpPr>
          <p:spPr>
            <a:xfrm>
              <a:off x="838200" y="1219200"/>
              <a:ext cx="152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98042" y="123539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+mn-lt"/>
                  <a:ea typeface="+mn-ea"/>
                  <a:cs typeface="+mn-cs"/>
                </a:rPr>
                <a:t>集采常态化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4381500" y="1219200"/>
              <a:ext cx="152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641342" y="12353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+mn-lt"/>
                  <a:ea typeface="+mn-ea"/>
                  <a:cs typeface="+mn-cs"/>
                </a:rPr>
                <a:t>医保谈判机制化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924800" y="1219200"/>
              <a:ext cx="152400" cy="381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184642" y="123539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333F50"/>
                  </a:solidFill>
                  <a:latin typeface="+mn-lt"/>
                  <a:ea typeface="+mn-ea"/>
                  <a:cs typeface="+mn-cs"/>
                </a:rPr>
                <a:t>医药反腐深水化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4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age-title-slot Placeholder Carrier"/>
          <p:cNvSpPr txBox="1"/>
          <p:nvPr>
            <p:ph type="title"/>
          </p:nvPr>
        </p:nvSpPr>
        <p:spPr>
          <a:xfrm>
            <a:off x="1146048" y="145733"/>
            <a:ext cx="4484561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缺口不在数据，在算法</a:t>
            </a:r>
          </a:p>
        </p:txBody>
      </p:sp>
      <p:sp>
        <p:nvSpPr>
          <p:cNvPr id="14" name="e-num-1-slot Placeholder Carrier"/>
          <p:cNvSpPr txBox="1"/>
          <p:nvPr>
            <p:ph type="body" idx="1"/>
          </p:nvPr>
        </p:nvSpPr>
        <p:spPr>
          <a:xfrm>
            <a:off x="1174484" y="219646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01</a:t>
            </a:r>
          </a:p>
        </p:txBody>
      </p:sp>
      <p:sp>
        <p:nvSpPr>
          <p:cNvPr id="15" name="e-title-1-slot Placeholder Carrier"/>
          <p:cNvSpPr txBox="1"/>
          <p:nvPr>
            <p:ph type="body" idx="6"/>
          </p:nvPr>
        </p:nvSpPr>
        <p:spPr>
          <a:xfrm>
            <a:off x="610991" y="363759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政策三重压力</a:t>
            </a:r>
          </a:p>
        </p:txBody>
      </p:sp>
      <p:sp>
        <p:nvSpPr>
          <p:cNvPr id="16" name="e-desc-1-slot Placeholder Carrier"/>
          <p:cNvSpPr txBox="1"/>
          <p:nvPr>
            <p:ph type="body" idx="11"/>
          </p:nvPr>
        </p:nvSpPr>
        <p:spPr>
          <a:xfrm>
            <a:off x="538861" y="4151471"/>
            <a:ext cx="1817878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集采常态化、医保谈判</a:t>
            </a:r>
            <a:br/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机制化、反腐深水化</a:t>
            </a:r>
          </a:p>
        </p:txBody>
      </p:sp>
      <p:sp>
        <p:nvSpPr>
          <p:cNvPr id="17" name="e-num-2-slot Placeholder Carrier"/>
          <p:cNvSpPr txBox="1"/>
          <p:nvPr>
            <p:ph type="body" idx="2"/>
          </p:nvPr>
        </p:nvSpPr>
        <p:spPr>
          <a:xfrm>
            <a:off x="3498584" y="219646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8" name="e-title-2-slot Placeholder Carrier"/>
          <p:cNvSpPr txBox="1"/>
          <p:nvPr>
            <p:ph type="body" idx="7"/>
          </p:nvPr>
        </p:nvSpPr>
        <p:spPr>
          <a:xfrm>
            <a:off x="2797273" y="363759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工具停留在手工</a:t>
            </a:r>
          </a:p>
        </p:txBody>
      </p:sp>
      <p:sp>
        <p:nvSpPr>
          <p:cNvPr id="19" name="e-desc-2-slot Placeholder Carrier"/>
          <p:cNvSpPr txBox="1"/>
          <p:nvPr>
            <p:ph type="body" idx="12"/>
          </p:nvPr>
        </p:nvSpPr>
        <p:spPr>
          <a:xfrm>
            <a:off x="2853944" y="4151471"/>
            <a:ext cx="1835912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多数企业靠 Excel 博弈</a:t>
            </a:r>
            <a:br/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决策周期 4-8 周</a:t>
            </a:r>
          </a:p>
        </p:txBody>
      </p:sp>
      <p:sp>
        <p:nvSpPr>
          <p:cNvPr id="20" name="e-num-3-slot Placeholder Carrier"/>
          <p:cNvSpPr txBox="1"/>
          <p:nvPr>
            <p:ph type="body" idx="3"/>
          </p:nvPr>
        </p:nvSpPr>
        <p:spPr>
          <a:xfrm>
            <a:off x="5822684" y="219646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21" name="e-title-3-slot Placeholder Carrier"/>
          <p:cNvSpPr txBox="1"/>
          <p:nvPr>
            <p:ph type="body" idx="8"/>
          </p:nvPr>
        </p:nvSpPr>
        <p:spPr>
          <a:xfrm>
            <a:off x="5164929" y="3637598"/>
            <a:ext cx="1862142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SaaS 水土不服</a:t>
            </a:r>
          </a:p>
        </p:txBody>
      </p:sp>
      <p:sp>
        <p:nvSpPr>
          <p:cNvPr id="22" name="e-desc-3-slot Placeholder Carrier"/>
          <p:cNvSpPr txBox="1"/>
          <p:nvPr>
            <p:ph type="body" idx="13"/>
          </p:nvPr>
        </p:nvSpPr>
        <p:spPr>
          <a:xfrm>
            <a:off x="5277231" y="4151471"/>
            <a:ext cx="1637538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国际套件难适配中国</a:t>
            </a:r>
            <a:br/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高度非标的业务规则</a:t>
            </a:r>
          </a:p>
        </p:txBody>
      </p:sp>
      <p:sp>
        <p:nvSpPr>
          <p:cNvPr id="23" name="e-num-4-slot Placeholder Carrier"/>
          <p:cNvSpPr txBox="1"/>
          <p:nvPr>
            <p:ph type="body" idx="4"/>
          </p:nvPr>
        </p:nvSpPr>
        <p:spPr>
          <a:xfrm>
            <a:off x="8146784" y="219646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04</a:t>
            </a:r>
          </a:p>
        </p:txBody>
      </p:sp>
      <p:sp>
        <p:nvSpPr>
          <p:cNvPr id="24" name="e-title-4-slot Placeholder Carrier"/>
          <p:cNvSpPr txBox="1"/>
          <p:nvPr>
            <p:ph type="body" idx="9"/>
          </p:nvPr>
        </p:nvSpPr>
        <p:spPr>
          <a:xfrm>
            <a:off x="7583291" y="3637598"/>
            <a:ext cx="1673619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低频但高影响</a:t>
            </a:r>
          </a:p>
        </p:txBody>
      </p:sp>
      <p:sp>
        <p:nvSpPr>
          <p:cNvPr id="25" name="e-desc-4-slot Placeholder Carrier"/>
          <p:cNvSpPr txBox="1"/>
          <p:nvPr>
            <p:ph type="body" idx="14"/>
          </p:nvPr>
        </p:nvSpPr>
        <p:spPr>
          <a:xfrm>
            <a:off x="7511161" y="4151471"/>
            <a:ext cx="1817878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牵动队伍稳定性、客户</a:t>
            </a:r>
            <a:br/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连续性与总部资源配置</a:t>
            </a:r>
          </a:p>
        </p:txBody>
      </p:sp>
      <p:sp>
        <p:nvSpPr>
          <p:cNvPr id="26" name="e-num-5-slot Placeholder Carrier"/>
          <p:cNvSpPr txBox="1"/>
          <p:nvPr>
            <p:ph type="body" idx="5"/>
          </p:nvPr>
        </p:nvSpPr>
        <p:spPr>
          <a:xfrm>
            <a:off x="10470884" y="2196465"/>
            <a:ext cx="546632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3300" b="1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05</a:t>
            </a:r>
          </a:p>
        </p:txBody>
      </p:sp>
      <p:sp>
        <p:nvSpPr>
          <p:cNvPr id="27" name="e-title-5-slot Placeholder Carrier"/>
          <p:cNvSpPr txBox="1"/>
          <p:nvPr>
            <p:ph type="body" idx="10"/>
          </p:nvPr>
        </p:nvSpPr>
        <p:spPr>
          <a:xfrm>
            <a:off x="9769573" y="3637598"/>
            <a:ext cx="1949253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本质是组合优化</a:t>
            </a:r>
          </a:p>
        </p:txBody>
      </p:sp>
      <p:sp>
        <p:nvSpPr>
          <p:cNvPr id="28" name="e-desc-5-slot Placeholder Carrier"/>
          <p:cNvSpPr txBox="1"/>
          <p:nvPr>
            <p:ph type="body" idx="15"/>
          </p:nvPr>
        </p:nvSpPr>
        <p:spPr>
          <a:xfrm>
            <a:off x="9745091" y="4151471"/>
            <a:ext cx="1998218" cy="54540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 marL="0" indent="0">
              <a:lnSpc>
                <a:spcPts val="2100"/>
              </a:lnSpc>
              <a:buNone/>
            </a:pPr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数千家医院终端分配给</a:t>
            </a:r>
            <a:br/>
            <a:r>
              <a:rPr lang="zh-CN" sz="142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数百名代表，多目标寻优</a:t>
            </a:r>
          </a:p>
        </p:txBody>
      </p:sp>
      <p:sp>
        <p:nvSpPr>
          <p:cNvPr id="29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4 / 16</a:t>
            </a:r>
          </a:p>
        </p:txBody>
      </p:sp>
    </p:spTree>
  </p:cSld>
  <p:clrMapOvr>
    <a:masterClrMapping/>
  </p:clrMapOvr>
  <p:transition p14:dur="400">
    <p:fade/>
  </p:transition>
</p:sld>
</file>

<file path=ppt/slides/slide5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-slot Placeholder Carrier"/>
          <p:cNvSpPr txBox="1"/>
          <p:nvPr>
            <p:ph type="title"/>
          </p:nvPr>
        </p:nvSpPr>
        <p:spPr>
          <a:xfrm>
            <a:off x="1146048" y="145733"/>
            <a:ext cx="626558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调研把业务诉求锚定为算法需求</a:t>
            </a:r>
          </a:p>
        </p:txBody>
      </p:sp>
      <p:sp>
        <p:nvSpPr>
          <p:cNvPr id="10" name="c-lead-slot Placeholder Carrier"/>
          <p:cNvSpPr txBox="1"/>
          <p:nvPr>
            <p:ph type="body" idx="1"/>
          </p:nvPr>
        </p:nvSpPr>
        <p:spPr>
          <a:xfrm>
            <a:off x="600456" y="986790"/>
            <a:ext cx="9771507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8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14 题问卷 + 半结构化访谈，覆盖 12 位从业者；模型每个目标项与阈值都能追到调研结论。</a:t>
            </a:r>
          </a:p>
        </p:txBody>
      </p:sp>
      <p:pic>
        <p:nvPicPr>
          <p:cNvPr id="11" name="c-chart-slot Placeholder Carrier"/>
          <p:cNvPicPr>
            <a:picLocks noChangeAspect="1"/>
          </p:cNvPicPr>
          <p:nvPr>
            <p:ph idx="2"/>
          </p:nvPr>
        </p:nvPicPr>
        <p:blipFill>
          <a:blip r:embed="rId5"/>
          <a:stretch>
            <a:fillRect/>
          </a:stretch>
        </p:blipFill>
        <p:spPr>
          <a:xfrm>
            <a:off x="1542098" y="1676400"/>
            <a:ext cx="3393758" cy="3581400"/>
          </a:xfrm>
          <a:prstGeom prst="rect">
            <a:avLst/>
          </a:prstGeom>
        </p:spPr>
      </p:pic>
      <p:grpSp>
        <p:nvGrpSpPr>
          <p:cNvPr id="27" name="c-table-slot Proxy Content"/>
          <p:cNvGrpSpPr/>
          <p:nvPr/>
        </p:nvGrpSpPr>
        <p:grpSpPr>
          <a:xfrm>
            <a:off x="6324600" y="1447800"/>
            <a:ext cx="5257800" cy="4038600"/>
            <a:chOff x="6324600" y="1447800"/>
            <a:chExt cx="5257800" cy="40386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447800"/>
              <a:ext cx="5257800" cy="419100"/>
            </a:xfrm>
            <a:prstGeom prst="rect">
              <a:avLst/>
            </a:prstGeom>
            <a:solidFill>
              <a:srgbClr val="333F5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31280" y="15621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锚点类别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219123" y="15621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调研结论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6324600" y="1866900"/>
              <a:ext cx="52578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6432042" y="2300288"/>
              <a:ext cx="9400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Index 构成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9884" y="2300288"/>
              <a:ext cx="1731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销量 60% + 潜力 40%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6324600" y="2771775"/>
              <a:ext cx="5257800" cy="904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6432042" y="3205162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维度排序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19884" y="320516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均衡性优先于地理紧凑性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324600" y="3676650"/>
              <a:ext cx="52578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432042" y="4110038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阈值容忍带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219884" y="4110038"/>
              <a:ext cx="17765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±20% 为业务可接受线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24600" y="4581525"/>
              <a:ext cx="5257800" cy="904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32042" y="5014912"/>
              <a:ext cx="9678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算法接受度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219884" y="5014912"/>
              <a:ext cx="24035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67% 受访者偏好高保留率方案</a:t>
              </a:r>
            </a:p>
          </p:txBody>
        </p:sp>
      </p:grpSp>
      <p:sp>
        <p:nvSpPr>
          <p:cNvPr id="28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5 / 16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602742" y="5664518"/>
            <a:ext cx="6120079" cy="264033"/>
            <a:chOff x="602742" y="5664518"/>
            <a:chExt cx="6120079" cy="264033"/>
          </a:xfrm>
        </p:grpSpPr>
        <p:sp>
          <p:nvSpPr>
            <p:cNvPr id="29" name="TextBox 29"/>
            <p:cNvSpPr txBox="1"/>
            <p:nvPr/>
          </p:nvSpPr>
          <p:spPr>
            <a:xfrm>
              <a:off x="602742" y="5664518"/>
              <a:ext cx="6120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数据来源：作者对 12 位行业从业者的问卷与访谈，详见论文 3.2、3.3 节。</a:t>
              </a:r>
            </a:p>
          </p:txBody>
        </p:sp>
      </p:grpSp>
      <p:sp>
        <p:nvSpPr>
          <p:cNvPr id="31" name="Placeholder Binding obj 3" hidden="1"/>
          <p:cNvSpPr>
            <a:spLocks noGrp="1"/>
          </p:cNvSpPr>
          <p:nvPr>
            <p:ph type="obj" idx="3"/>
          </p:nvPr>
        </p:nvSpPr>
        <p:spPr>
          <a:xfrm>
            <a:off x="6324600" y="1447800"/>
            <a:ext cx="5257800" cy="403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6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-banner-slot Placeholder Carrier"/>
          <p:cNvSpPr txBox="1"/>
          <p:nvPr>
            <p:ph type="title"/>
          </p:nvPr>
        </p:nvSpPr>
        <p:spPr>
          <a:xfrm>
            <a:off x="1146048" y="145733"/>
            <a:ext cx="225828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模型与算法</a:t>
            </a:r>
          </a:p>
        </p:txBody>
      </p:sp>
      <p:sp>
        <p:nvSpPr>
          <p:cNvPr id="11" name="chapter-num-slot Placeholder Carrier"/>
          <p:cNvSpPr txBox="1"/>
          <p:nvPr>
            <p:ph type="body" idx="1"/>
          </p:nvPr>
        </p:nvSpPr>
        <p:spPr>
          <a:xfrm>
            <a:off x="1657350" y="2402205"/>
            <a:ext cx="1297537" cy="156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8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02</a:t>
            </a:r>
          </a:p>
        </p:txBody>
      </p:sp>
      <p:sp>
        <p:nvSpPr>
          <p:cNvPr id="12" name="chapter-desc-slot Placeholder Carrier"/>
          <p:cNvSpPr txBox="1"/>
          <p:nvPr>
            <p:ph type="body" idx="2"/>
          </p:nvPr>
        </p:nvSpPr>
        <p:spPr>
          <a:xfrm>
            <a:off x="1666494" y="3980498"/>
            <a:ext cx="612314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9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从业务问题到 0-1 非线性规划，再到两阶段解耦求解</a:t>
            </a:r>
          </a:p>
        </p:txBody>
      </p:sp>
      <p:sp>
        <p:nvSpPr>
          <p:cNvPr id="13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6 / 16</a:t>
            </a:r>
          </a:p>
        </p:txBody>
      </p:sp>
    </p:spTree>
  </p:cSld>
  <p:clrMapOvr>
    <a:masterClrMapping/>
  </p:clrMapOvr>
  <p:transition p14:dur="400">
    <p:fade/>
  </p:transition>
</p:sld>
</file>

<file path=ppt/slides/slide7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-slot Placeholder Carrier"/>
          <p:cNvSpPr txBox="1"/>
          <p:nvPr>
            <p:ph type="title"/>
          </p:nvPr>
        </p:nvSpPr>
        <p:spPr>
          <a:xfrm>
            <a:off x="1146048" y="145733"/>
            <a:ext cx="563046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模型 (P)：0-1 非线性规划</a:t>
            </a:r>
          </a:p>
        </p:txBody>
      </p:sp>
      <p:pic>
        <p:nvPicPr>
          <p:cNvPr id="10" name="g-image-slot Placeholder Carrier"/>
          <p:cNvPicPr>
            <a:picLocks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936432" y="1143000"/>
            <a:ext cx="8320088" cy="4152900"/>
          </a:xfrm>
          <a:prstGeom prst="rect">
            <a:avLst/>
          </a:prstGeom>
        </p:spPr>
      </p:pic>
      <p:sp>
        <p:nvSpPr>
          <p:cNvPr id="11" name="g-caption-slot Placeholder Carrier"/>
          <p:cNvSpPr txBox="1"/>
          <p:nvPr>
            <p:ph type="ftr" idx="2"/>
          </p:nvPr>
        </p:nvSpPr>
        <p:spPr>
          <a:xfrm>
            <a:off x="602742" y="5531168"/>
            <a:ext cx="6228779" cy="4926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阈值化统一惩罚：超出容忍带才罚、罚则按平方增长；基准惩罚系数 B = 10000；</a:t>
            </a:r>
            <a:br/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地理跨度项无阈值，从第一公里起就有梯度。式 (4-10)(4-11)，论文 4.4.4 节。</a:t>
            </a:r>
          </a:p>
        </p:txBody>
      </p:sp>
      <p:sp>
        <p:nvSpPr>
          <p:cNvPr id="12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7 / 16</a:t>
            </a:r>
          </a:p>
        </p:txBody>
      </p:sp>
    </p:spTree>
  </p:cSld>
  <p:clrMapOvr>
    <a:masterClrMapping/>
  </p:clrMapOvr>
  <p:transition p14:dur="400">
    <p:fade/>
  </p:transition>
</p:sld>
</file>

<file path=ppt/slides/slide8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ge-title-slot Placeholder Carrier"/>
          <p:cNvSpPr txBox="1"/>
          <p:nvPr>
            <p:ph type="title"/>
          </p:nvPr>
        </p:nvSpPr>
        <p:spPr>
          <a:xfrm>
            <a:off x="1146048" y="145733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用综合价值指数度量辖区价值</a:t>
            </a:r>
          </a:p>
        </p:txBody>
      </p:sp>
      <p:sp>
        <p:nvSpPr>
          <p:cNvPr id="13" name="b-head-1-slot Placeholder Carrier"/>
          <p:cNvSpPr txBox="1"/>
          <p:nvPr>
            <p:ph type="body" idx="1"/>
          </p:nvPr>
        </p:nvSpPr>
        <p:spPr>
          <a:xfrm>
            <a:off x="1055370" y="1566862"/>
            <a:ext cx="1295019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三步构造</a:t>
            </a:r>
          </a:p>
        </p:txBody>
      </p:sp>
      <p:sp>
        <p:nvSpPr>
          <p:cNvPr id="14" name="b-body-1-slot Placeholder Carrier"/>
          <p:cNvSpPr txBox="1"/>
          <p:nvPr>
            <p:ph idx="3"/>
          </p:nvPr>
        </p:nvSpPr>
        <p:spPr>
          <a:xfrm>
            <a:off x="1058418" y="2184082"/>
            <a:ext cx="3139059" cy="23801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① 省内份额归一化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消除省际量纲差异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② 加权聚合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销量 60% + 潜力 40%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权重来自第三章调研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③ 乘产品系数 K_P 并放大 1000 倍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得到便于阅读的整数量级</a:t>
            </a:r>
          </a:p>
        </p:txBody>
      </p:sp>
      <p:sp>
        <p:nvSpPr>
          <p:cNvPr id="15" name="b-head-2-slot Placeholder Carrier"/>
          <p:cNvSpPr txBox="1"/>
          <p:nvPr>
            <p:ph type="body" idx="2"/>
          </p:nvPr>
        </p:nvSpPr>
        <p:spPr>
          <a:xfrm>
            <a:off x="6770370" y="1566862"/>
            <a:ext cx="1931098" cy="4400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225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两个设计取舍</a:t>
            </a:r>
          </a:p>
        </p:txBody>
      </p:sp>
      <p:sp>
        <p:nvSpPr>
          <p:cNvPr id="16" name="b-body-2-slot Placeholder Carrier"/>
          <p:cNvSpPr txBox="1"/>
          <p:nvPr>
            <p:ph idx="4"/>
          </p:nvPr>
        </p:nvSpPr>
        <p:spPr>
          <a:xfrm>
            <a:off x="6773418" y="2184082"/>
            <a:ext cx="3160014" cy="2037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2700"/>
              </a:lnSpc>
            </a:pPr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为什么不直接用销量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只看销量会把增长机会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锁死在存量大户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为什么要省内归一化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跨省绝对值不可比，归一化后</a:t>
            </a:r>
            <a:br/>
            <a:r>
              <a:rPr lang="zh-CN" sz="16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 xml:space="preserve">　　同一套阈值可跨省复用</a:t>
            </a:r>
          </a:p>
        </p:txBody>
      </p:sp>
      <p:sp>
        <p:nvSpPr>
          <p:cNvPr id="17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8 / 16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602742" y="5778818"/>
            <a:ext cx="6783419" cy="264033"/>
            <a:chOff x="602742" y="5778818"/>
            <a:chExt cx="6783419" cy="264033"/>
          </a:xfrm>
        </p:grpSpPr>
        <p:sp>
          <p:nvSpPr>
            <p:cNvPr id="18" name="TextBox 18"/>
            <p:cNvSpPr txBox="1"/>
            <p:nvPr/>
          </p:nvSpPr>
          <p:spPr>
            <a:xfrm>
              <a:off x="602742" y="5778818"/>
              <a:ext cx="6783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大医院采用虚拟拆分预处理；拆分后每个份额都是独立的分配对象。（论文 4.3 节）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9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-slot Placeholder Carrier"/>
          <p:cNvSpPr txBox="1"/>
          <p:nvPr>
            <p:ph type="title"/>
          </p:nvPr>
        </p:nvSpPr>
        <p:spPr>
          <a:xfrm>
            <a:off x="1146048" y="145733"/>
            <a:ext cx="6710839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均衡与历史匹配解耦为两阶段求优</a:t>
            </a:r>
          </a:p>
        </p:txBody>
      </p:sp>
      <p:sp>
        <p:nvSpPr>
          <p:cNvPr id="10" name="c-lead-slot Placeholder Carrier"/>
          <p:cNvSpPr txBox="1"/>
          <p:nvPr>
            <p:ph type="body" idx="1"/>
          </p:nvPr>
        </p:nvSpPr>
        <p:spPr>
          <a:xfrm>
            <a:off x="600456" y="986790"/>
            <a:ext cx="801471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8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两阶段解耦让两个目标各自在子问题上求优，规避单阶段方法的锚定效应。</a:t>
            </a:r>
          </a:p>
        </p:txBody>
      </p:sp>
      <p:pic>
        <p:nvPicPr>
          <p:cNvPr id="11" name="c-chart-slot Placeholder Carrier"/>
          <p:cNvPicPr>
            <a:picLocks noChangeAspect="1"/>
          </p:cNvPicPr>
          <p:nvPr>
            <p:ph idx="2"/>
          </p:nvPr>
        </p:nvPicPr>
        <p:blipFill>
          <a:blip r:embed="rId5"/>
          <a:stretch>
            <a:fillRect/>
          </a:stretch>
        </p:blipFill>
        <p:spPr>
          <a:xfrm>
            <a:off x="2005965" y="1676400"/>
            <a:ext cx="2465070" cy="3581400"/>
          </a:xfrm>
          <a:prstGeom prst="rect">
            <a:avLst/>
          </a:prstGeom>
        </p:spPr>
      </p:pic>
      <p:grpSp>
        <p:nvGrpSpPr>
          <p:cNvPr id="20" name="c-table-slot Proxy Content"/>
          <p:cNvGrpSpPr/>
          <p:nvPr/>
        </p:nvGrpSpPr>
        <p:grpSpPr>
          <a:xfrm>
            <a:off x="6324600" y="1447800"/>
            <a:ext cx="5257800" cy="3771900"/>
            <a:chOff x="6324600" y="1447800"/>
            <a:chExt cx="5257800" cy="37719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447800"/>
              <a:ext cx="5257800" cy="1790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6DCE5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6324600" y="1447800"/>
              <a:ext cx="57150" cy="1790700"/>
            </a:xfrm>
            <a:prstGeom prst="rect">
              <a:avLst/>
            </a:prstGeom>
            <a:solidFill>
              <a:srgbClr val="173A5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19494" y="16563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第一阶段　均衡优化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22542" y="2102168"/>
              <a:ext cx="2534031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六层地理聚类生成初始解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模拟退火纯优化 Index 均衡性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与地理紧凑性 —— 此阶段不看历史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24600" y="3429000"/>
              <a:ext cx="5257800" cy="1790700"/>
            </a:xfrm>
            <a:prstGeom prst="rect">
              <a:avLst/>
            </a:prstGeom>
            <a:solidFill>
              <a:schemeClr val="lt1"/>
            </a:solidFill>
            <a:ln w="9525">
              <a:solidFill>
                <a:srgbClr val="D6DCE5"/>
              </a:solidFill>
            </a:ln>
          </p:spPr>
        </p:sp>
        <p:sp>
          <p:nvSpPr>
            <p:cNvPr id="17" name="Rectangle 17"/>
            <p:cNvSpPr/>
            <p:nvPr/>
          </p:nvSpPr>
          <p:spPr>
            <a:xfrm>
              <a:off x="6324600" y="3429000"/>
              <a:ext cx="57150" cy="1790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619494" y="3637598"/>
              <a:ext cx="2500522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第二阶段　历史匹配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22542" y="4083368"/>
              <a:ext cx="2414016" cy="8736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Hungarian 算法把匿名簇映射到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历史辖区编号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最大化 Index 加权客户保留率</a:t>
              </a:r>
            </a:p>
          </p:txBody>
        </p:sp>
      </p:grpSp>
      <p:sp>
        <p:nvSpPr>
          <p:cNvPr id="21" name="page-num-slot Placeholder Carrier"/>
          <p:cNvSpPr txBox="1"/>
          <p:nvPr>
            <p:ph type="sldNum" idx="99"/>
          </p:nvPr>
        </p:nvSpPr>
        <p:spPr>
          <a:xfrm>
            <a:off x="11009528" y="5778818"/>
            <a:ext cx="522580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9 / 16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602742" y="5664518"/>
            <a:ext cx="5347697" cy="264033"/>
            <a:chOff x="602742" y="5664518"/>
            <a:chExt cx="5347697" cy="264033"/>
          </a:xfrm>
        </p:grpSpPr>
        <p:sp>
          <p:nvSpPr>
            <p:cNvPr id="22" name="TextBox 22"/>
            <p:cNvSpPr txBox="1"/>
            <p:nvPr/>
          </p:nvSpPr>
          <p:spPr>
            <a:xfrm>
              <a:off x="602742" y="5664518"/>
              <a:ext cx="53476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序贯求优不等价于两个目标的联合最优——这一点写在论文 7.3 节。</a:t>
              </a:r>
            </a:p>
          </p:txBody>
        </p:sp>
      </p:grpSp>
      <p:sp>
        <p:nvSpPr>
          <p:cNvPr id="24" name="Placeholder Binding obj 3" hidden="1"/>
          <p:cNvSpPr>
            <a:spLocks noGrp="1"/>
          </p:cNvSpPr>
          <p:nvPr>
            <p:ph type="obj" idx="3"/>
          </p:nvPr>
        </p:nvSpPr>
        <p:spPr>
          <a:xfrm>
            <a:off x="6324600" y="1447800"/>
            <a:ext cx="5257800" cy="403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0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hapter-banner-slot Placeholder Carrier"/>
          <p:cNvSpPr txBox="1"/>
          <p:nvPr>
            <p:ph type="title"/>
          </p:nvPr>
        </p:nvSpPr>
        <p:spPr>
          <a:xfrm>
            <a:off x="1146048" y="145733"/>
            <a:ext cx="3148794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实证与能力边界</a:t>
            </a:r>
          </a:p>
        </p:txBody>
      </p:sp>
      <p:sp>
        <p:nvSpPr>
          <p:cNvPr id="11" name="chapter-num-slot Placeholder Carrier"/>
          <p:cNvSpPr txBox="1"/>
          <p:nvPr>
            <p:ph type="body" idx="1"/>
          </p:nvPr>
        </p:nvSpPr>
        <p:spPr>
          <a:xfrm>
            <a:off x="1657350" y="2402205"/>
            <a:ext cx="1297537" cy="15621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8100" b="1" dirty="0">
                <a:solidFill>
                  <a:schemeClr val="accent1"/>
                </a:solidFill>
                <a:latin typeface="+mn-lt"/>
                <a:ea typeface="+mn-ea"/>
                <a:cs typeface="+mn-cs"/>
              </a:rPr>
              <a:t>03</a:t>
            </a:r>
          </a:p>
        </p:txBody>
      </p:sp>
      <p:sp>
        <p:nvSpPr>
          <p:cNvPr id="12" name="chapter-desc-slot Placeholder Carrier"/>
          <p:cNvSpPr txBox="1"/>
          <p:nvPr>
            <p:ph type="body" idx="2"/>
          </p:nvPr>
        </p:nvSpPr>
        <p:spPr>
          <a:xfrm>
            <a:off x="1666494" y="3980498"/>
            <a:ext cx="7370064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9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上海（聚集型）、湖南（中等）、新疆（稀疏），真实脱敏数据</a:t>
            </a:r>
          </a:p>
        </p:txBody>
      </p:sp>
      <p:sp>
        <p:nvSpPr>
          <p:cNvPr id="13" name="page-num-slot Placeholder Carrier"/>
          <p:cNvSpPr txBox="1"/>
          <p:nvPr>
            <p:ph type="sldNum" idx="99"/>
          </p:nvPr>
        </p:nvSpPr>
        <p:spPr>
          <a:xfrm>
            <a:off x="10909573" y="57788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10 / 16</a:t>
            </a:r>
          </a:p>
        </p:txBody>
      </p:sp>
    </p:spTree>
  </p:cSld>
  <p:clrMapOvr>
    <a:masterClrMapping/>
  </p:clrMapOvr>
  <p:transition p14:dur="400">
    <p:fade/>
  </p:transition>
</p:sld>
</file>

<file path=ppt/slides/slide11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-slot Placeholder Carrier"/>
          <p:cNvSpPr txBox="1"/>
          <p:nvPr>
            <p:ph type="title"/>
          </p:nvPr>
        </p:nvSpPr>
        <p:spPr>
          <a:xfrm>
            <a:off x="1146048" y="145733"/>
            <a:ext cx="6265583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三省样本的实例规模与求解耗时</a:t>
            </a:r>
          </a:p>
        </p:txBody>
      </p:sp>
      <p:grpSp>
        <p:nvGrpSpPr>
          <p:cNvPr id="41" name="d-table-slot Proxy Content"/>
          <p:cNvGrpSpPr/>
          <p:nvPr/>
        </p:nvGrpSpPr>
        <p:grpSpPr>
          <a:xfrm>
            <a:off x="609600" y="1219200"/>
            <a:ext cx="10972800" cy="2419350"/>
            <a:chOff x="609600" y="1219200"/>
            <a:chExt cx="10972800" cy="2419350"/>
          </a:xfrm>
        </p:grpSpPr>
        <p:sp>
          <p:nvSpPr>
            <p:cNvPr id="9" name="Rectangle 9"/>
            <p:cNvSpPr/>
            <p:nvPr/>
          </p:nvSpPr>
          <p:spPr>
            <a:xfrm>
              <a:off x="609600" y="1219200"/>
              <a:ext cx="10972800" cy="419100"/>
            </a:xfrm>
            <a:prstGeom prst="rect">
              <a:avLst/>
            </a:prstGeom>
            <a:solidFill>
              <a:srgbClr val="333F5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6280" y="13335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样本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268027" y="1333500"/>
              <a:ext cx="10753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原始医院数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63516" y="1333500"/>
              <a:ext cx="132580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决策单元数 N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427927" y="1333500"/>
              <a:ext cx="8777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辖区数 K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13878" y="1333500"/>
              <a:ext cx="13482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决策变量 N×K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17583" y="1333500"/>
              <a:ext cx="6513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约束数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2374" y="1333500"/>
              <a:ext cx="8633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求解耗时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09600" y="1638300"/>
              <a:ext cx="109728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7042" y="191928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上海（聚集型）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129011" y="19192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99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674976" y="191928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107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091286" y="19192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547830" y="191928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2,033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954558" y="191928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563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925118" y="191928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4.6 秒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609600" y="2305050"/>
              <a:ext cx="10972800" cy="666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7042" y="258603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湖南（中等）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129011" y="258603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774931" y="258603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91286" y="258603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547830" y="2586038"/>
              <a:ext cx="51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1,008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954558" y="258603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925118" y="258603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1.9 秒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09600" y="2971800"/>
              <a:ext cx="10972800" cy="666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17042" y="325278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新疆（稀疏）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29011" y="32527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774931" y="32527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091286" y="3252788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747741" y="325278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390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954558" y="3252788"/>
              <a:ext cx="3135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149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925118" y="325278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2.4 秒</a:t>
              </a:r>
            </a:p>
          </p:txBody>
        </p:sp>
      </p:grpSp>
      <p:sp>
        <p:nvSpPr>
          <p:cNvPr id="42" name="d-note-slot Placeholder Carrier"/>
          <p:cNvSpPr txBox="1"/>
          <p:nvPr>
            <p:ph type="ftr" idx="2"/>
          </p:nvPr>
        </p:nvSpPr>
        <p:spPr>
          <a:xfrm>
            <a:off x="602742" y="5588318"/>
            <a:ext cx="5200079" cy="5116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95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决策单元数 N 是虚拟拆分后的份额数，不是原始医院数。</a:t>
            </a:r>
            <a:br/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耗时为单进程单线程实测，未用并行加速。对照：人工方案 4-8 周。</a:t>
            </a:r>
          </a:p>
        </p:txBody>
      </p:sp>
      <p:sp>
        <p:nvSpPr>
          <p:cNvPr id="43" name="page-num-slot Placeholder Carrier"/>
          <p:cNvSpPr txBox="1"/>
          <p:nvPr>
            <p:ph type="sldNum" idx="99"/>
          </p:nvPr>
        </p:nvSpPr>
        <p:spPr>
          <a:xfrm>
            <a:off x="10909573" y="57788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11 / 16</a:t>
            </a:r>
          </a:p>
        </p:txBody>
      </p:sp>
      <p:sp>
        <p:nvSpPr>
          <p:cNvPr id="44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609600" y="1219200"/>
            <a:ext cx="1097280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2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-slot Placeholder Carrier"/>
          <p:cNvSpPr txBox="1"/>
          <p:nvPr>
            <p:ph type="title"/>
          </p:nvPr>
        </p:nvSpPr>
        <p:spPr>
          <a:xfrm>
            <a:off x="1146048" y="145733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湖南主样本：均衡与保留兼得</a:t>
            </a:r>
          </a:p>
        </p:txBody>
      </p:sp>
      <p:sp>
        <p:nvSpPr>
          <p:cNvPr id="10" name="c-lead-slot Placeholder Carrier"/>
          <p:cNvSpPr txBox="1"/>
          <p:nvPr>
            <p:ph type="body" idx="1"/>
          </p:nvPr>
        </p:nvSpPr>
        <p:spPr>
          <a:xfrm>
            <a:off x="600456" y="986790"/>
            <a:ext cx="8840419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 marL="0" indent="0">
              <a:buNone/>
            </a:pPr>
            <a:r>
              <a:rPr lang="zh-CN" sz="180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60 家医院 / 16 辖区，失衡主要由 1 家 Index 近 3250 的省级肿瘤专科医院主导。</a:t>
            </a:r>
          </a:p>
        </p:txBody>
      </p:sp>
      <p:pic>
        <p:nvPicPr>
          <p:cNvPr id="11" name="c-chart-slot Placeholder Carrier"/>
          <p:cNvPicPr>
            <a:picLocks noChangeAspect="1"/>
          </p:cNvPicPr>
          <p:nvPr>
            <p:ph idx="2"/>
          </p:nvPr>
        </p:nvPicPr>
        <p:blipFill>
          <a:blip r:embed="rId5"/>
          <a:stretch>
            <a:fillRect/>
          </a:stretch>
        </p:blipFill>
        <p:spPr>
          <a:xfrm>
            <a:off x="838200" y="2042160"/>
            <a:ext cx="4800600" cy="2850832"/>
          </a:xfrm>
          <a:prstGeom prst="rect">
            <a:avLst/>
          </a:prstGeom>
        </p:spPr>
      </p:pic>
      <p:grpSp>
        <p:nvGrpSpPr>
          <p:cNvPr id="32" name="c-table-slot Proxy Content"/>
          <p:cNvGrpSpPr/>
          <p:nvPr/>
        </p:nvGrpSpPr>
        <p:grpSpPr>
          <a:xfrm>
            <a:off x="6324600" y="1447800"/>
            <a:ext cx="5257800" cy="4038600"/>
            <a:chOff x="6324600" y="1447800"/>
            <a:chExt cx="5257800" cy="4038600"/>
          </a:xfrm>
        </p:grpSpPr>
        <p:sp>
          <p:nvSpPr>
            <p:cNvPr id="12" name="Rectangle 12"/>
            <p:cNvSpPr/>
            <p:nvPr/>
          </p:nvSpPr>
          <p:spPr>
            <a:xfrm>
              <a:off x="6324600" y="1447800"/>
              <a:ext cx="5257800" cy="419100"/>
            </a:xfrm>
            <a:prstGeom prst="rect">
              <a:avLst/>
            </a:prstGeom>
            <a:solidFill>
              <a:srgbClr val="333F50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431280" y="15621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指标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42847" y="1562100"/>
              <a:ext cx="5603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As-Is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860905" y="1562100"/>
              <a:ext cx="6148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To-Be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324600" y="1866900"/>
              <a:ext cx="52578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32042" y="2300288"/>
              <a:ext cx="13260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Index 变异系数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553" y="230028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44.3%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925118" y="230028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18.3%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324600" y="2771775"/>
              <a:ext cx="5257800" cy="904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32042" y="3205162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辖区平均最大半径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298076" y="3205162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50.9 km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770641" y="3205162"/>
              <a:ext cx="704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33.6 km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324600" y="3676650"/>
              <a:ext cx="5257800" cy="90487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32042" y="4110038"/>
              <a:ext cx="151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Index 加权保留率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888722" y="411003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—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925118" y="411003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87.4%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324600" y="4581525"/>
              <a:ext cx="5257800" cy="90487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432042" y="5014912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平均覆盖城市数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588856" y="501491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1.25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1061421" y="5014912"/>
              <a:ext cx="4135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1.44</a:t>
              </a:r>
            </a:p>
          </p:txBody>
        </p:sp>
      </p:grpSp>
      <p:sp>
        <p:nvSpPr>
          <p:cNvPr id="33" name="page-num-slot Placeholder Carrier"/>
          <p:cNvSpPr txBox="1"/>
          <p:nvPr>
            <p:ph type="sldNum" idx="99"/>
          </p:nvPr>
        </p:nvSpPr>
        <p:spPr>
          <a:xfrm>
            <a:off x="10909573" y="57788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12 / 16</a:t>
            </a:r>
          </a:p>
        </p:txBody>
      </p:sp>
      <p:grpSp>
        <p:nvGrpSpPr>
          <p:cNvPr id="35" name="Group 35"/>
          <p:cNvGrpSpPr/>
          <p:nvPr/>
        </p:nvGrpSpPr>
        <p:grpSpPr>
          <a:xfrm>
            <a:off x="602742" y="5664518"/>
            <a:ext cx="6238208" cy="264033"/>
            <a:chOff x="602742" y="5664518"/>
            <a:chExt cx="6238208" cy="264033"/>
          </a:xfrm>
        </p:grpSpPr>
        <p:sp>
          <p:nvSpPr>
            <p:cNvPr id="34" name="TextBox 34"/>
            <p:cNvSpPr txBox="1"/>
            <p:nvPr/>
          </p:nvSpPr>
          <p:spPr>
            <a:xfrm>
              <a:off x="602742" y="5664518"/>
              <a:ext cx="62382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数据来源：业内某跨国药企肿瘤团队脱敏数据，论文 5.2 节。末行为代价项。</a:t>
              </a:r>
            </a:p>
          </p:txBody>
        </p:sp>
      </p:grpSp>
      <p:sp>
        <p:nvSpPr>
          <p:cNvPr id="36" name="Placeholder Binding obj 3" hidden="1"/>
          <p:cNvSpPr>
            <a:spLocks noGrp="1"/>
          </p:cNvSpPr>
          <p:nvPr>
            <p:ph type="obj" idx="3"/>
          </p:nvPr>
        </p:nvSpPr>
        <p:spPr>
          <a:xfrm>
            <a:off x="6324600" y="1447800"/>
            <a:ext cx="5257800" cy="40386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3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age-title-slot Placeholder Carrier"/>
          <p:cNvSpPr txBox="1"/>
          <p:nvPr>
            <p:ph type="title"/>
          </p:nvPr>
        </p:nvSpPr>
        <p:spPr>
          <a:xfrm>
            <a:off x="1146048" y="145733"/>
            <a:ext cx="4929816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稀疏场景仍在可接受带外</a:t>
            </a:r>
          </a:p>
        </p:txBody>
      </p:sp>
      <p:grpSp>
        <p:nvGrpSpPr>
          <p:cNvPr id="49" name="d-table-slot Proxy Content"/>
          <p:cNvGrpSpPr/>
          <p:nvPr/>
        </p:nvGrpSpPr>
        <p:grpSpPr>
          <a:xfrm>
            <a:off x="609600" y="1219200"/>
            <a:ext cx="10972800" cy="4114800"/>
            <a:chOff x="609600" y="1219200"/>
            <a:chExt cx="10972800" cy="4114800"/>
          </a:xfrm>
        </p:grpSpPr>
        <p:sp>
          <p:nvSpPr>
            <p:cNvPr id="9" name="Rectangle 9"/>
            <p:cNvSpPr/>
            <p:nvPr/>
          </p:nvSpPr>
          <p:spPr>
            <a:xfrm>
              <a:off x="609600" y="1219200"/>
              <a:ext cx="10972800" cy="419100"/>
            </a:xfrm>
            <a:prstGeom prst="rect">
              <a:avLst/>
            </a:prstGeom>
            <a:solidFill>
              <a:srgbClr val="333F50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16280" y="1333500"/>
              <a:ext cx="4392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维度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08969" y="1333500"/>
              <a:ext cx="14994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上海（聚集型）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4659" y="133350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湖南（中等）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188321" y="1333500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新疆（稀疏）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1638300"/>
              <a:ext cx="10972800" cy="52768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17042" y="1830705"/>
              <a:ext cx="21414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数据规模（医院 / 辖区）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85098" y="183070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99 / 19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218761" y="183070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60 / 16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852423" y="1830705"/>
              <a:ext cx="6225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35 / 10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2165985"/>
              <a:ext cx="10972800" cy="5276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7042" y="2358390"/>
              <a:ext cx="13251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As-Is Index CV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657793" y="2358390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63.8%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91455" y="2358390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44.3%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925118" y="2358390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47.9%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09600" y="2694622"/>
              <a:ext cx="10972800" cy="52768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17042" y="2886075"/>
              <a:ext cx="13740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To-Be Index CV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57793" y="2886075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15.2%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291455" y="2886075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18.3%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925118" y="2886075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32.1%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3222308"/>
              <a:ext cx="10972800" cy="5276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7042" y="3414712"/>
              <a:ext cx="6992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CV 改善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657793" y="341471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76.2%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91455" y="341471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58.7%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0925118" y="341471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33.0%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09600" y="3749992"/>
              <a:ext cx="10972800" cy="52768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17042" y="394239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平均最大半径压缩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657793" y="394239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54.5%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1455" y="394239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34.0%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925118" y="3942398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54.7%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09600" y="4277678"/>
              <a:ext cx="10972800" cy="52768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17042" y="4470082"/>
              <a:ext cx="151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Index 加权保留率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657793" y="447008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62.9%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291455" y="447008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87.4%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0925118" y="4470082"/>
              <a:ext cx="5498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82.1%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609600" y="4806315"/>
              <a:ext cx="10972800" cy="527685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17042" y="4997768"/>
              <a:ext cx="16261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落入 20% 可接受带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012180" y="49977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645842" y="4997768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343559" y="4997768"/>
              <a:ext cx="11313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否 — 能力边界</a:t>
              </a:r>
            </a:p>
          </p:txBody>
        </p:sp>
      </p:grpSp>
      <p:sp>
        <p:nvSpPr>
          <p:cNvPr id="50" name="d-note-slot Placeholder Carrier"/>
          <p:cNvSpPr txBox="1"/>
          <p:nvPr>
            <p:ph type="ftr" idx="2"/>
          </p:nvPr>
        </p:nvSpPr>
        <p:spPr>
          <a:xfrm>
            <a:off x="602742" y="5588318"/>
            <a:ext cx="7017448" cy="5116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95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新疆偏高：稀疏场景下地理跨度惩罚与 Index 偏差惩罚直接冲突，SA 更早停在较差的解。</a:t>
            </a:r>
            <a:br/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其 10 次重复的离散度也最大（CV 标准差约 5pp，上海 1.6、湖南 2），故按代价函数取优。</a:t>
            </a:r>
          </a:p>
        </p:txBody>
      </p:sp>
      <p:sp>
        <p:nvSpPr>
          <p:cNvPr id="51" name="page-num-slot Placeholder Carrier"/>
          <p:cNvSpPr txBox="1"/>
          <p:nvPr>
            <p:ph type="sldNum" idx="99"/>
          </p:nvPr>
        </p:nvSpPr>
        <p:spPr>
          <a:xfrm>
            <a:off x="10909573" y="57788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13 / 16</a:t>
            </a:r>
          </a:p>
        </p:txBody>
      </p:sp>
      <p:sp>
        <p:nvSpPr>
          <p:cNvPr id="52" name="Placeholder Binding obj 1" hidden="1"/>
          <p:cNvSpPr>
            <a:spLocks noGrp="1"/>
          </p:cNvSpPr>
          <p:nvPr>
            <p:ph type="obj" idx="1"/>
          </p:nvPr>
        </p:nvSpPr>
        <p:spPr>
          <a:xfrm>
            <a:off x="609600" y="1219200"/>
            <a:ext cx="10972800" cy="4114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4.xml><?xml version="1.0" encoding="utf-8"?>
<p:sld xmlns:a="http://schemas.openxmlformats.org/drawingml/2006/main" xmlns:p="http://schemas.openxmlformats.org/presentationml/2006/main" xmlns:p14="http://schemas.microsoft.com/office/powerpoint/2010/main" xmlns:r="http://schemas.openxmlformats.org/officeDocument/2006/relationships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age-title-slot Placeholder Carrier"/>
          <p:cNvSpPr txBox="1"/>
          <p:nvPr>
            <p:ph type="title"/>
          </p:nvPr>
        </p:nvSpPr>
        <p:spPr>
          <a:xfrm>
            <a:off x="1146048" y="145733"/>
            <a:ext cx="5820327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算法出基线，业务经理做微调</a:t>
            </a:r>
          </a:p>
        </p:txBody>
      </p:sp>
      <p:pic>
        <p:nvPicPr>
          <p:cNvPr id="10" name="g-image-slot Placeholder Carrier"/>
          <p:cNvPicPr>
            <a:picLocks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1447800" y="1143000"/>
            <a:ext cx="4763452" cy="4152900"/>
          </a:xfrm>
          <a:prstGeom prst="rect">
            <a:avLst/>
          </a:prstGeom>
        </p:spPr>
      </p:pic>
      <p:sp>
        <p:nvSpPr>
          <p:cNvPr id="11" name="g-caption-slot Placeholder Carrier"/>
          <p:cNvSpPr txBox="1"/>
          <p:nvPr>
            <p:ph type="ftr" idx="2"/>
          </p:nvPr>
        </p:nvSpPr>
        <p:spPr>
          <a:xfrm>
            <a:off x="602742" y="5531168"/>
            <a:ext cx="6871716" cy="4926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>
              <a:lnSpc>
                <a:spcPts val="1800"/>
              </a:lnSpc>
            </a:pPr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算法的组织定位是把决策周期从数周压到数秒、给出可讨论的基线，而不是替代业务判断。</a:t>
            </a:r>
            <a:br/>
            <a:r>
              <a:rPr lang="zh-CN" sz="1350" dirty="0">
                <a:solidFill>
                  <a:srgbClr val="404040"/>
                </a:solidFill>
                <a:latin typeface="+mn-lt"/>
                <a:ea typeface="+mn-ea"/>
                <a:cs typeface="+mn-cs"/>
              </a:rPr>
              <a:t>（论文 6.1 节）</a:t>
            </a:r>
          </a:p>
        </p:txBody>
      </p:sp>
      <p:sp>
        <p:nvSpPr>
          <p:cNvPr id="12" name="page-num-slot Placeholder Carrier"/>
          <p:cNvSpPr txBox="1"/>
          <p:nvPr>
            <p:ph type="sldNum" idx="99"/>
          </p:nvPr>
        </p:nvSpPr>
        <p:spPr>
          <a:xfrm>
            <a:off x="10909573" y="57788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14 / 16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7200900" y="1447800"/>
            <a:ext cx="3454955" cy="3543300"/>
            <a:chOff x="7200900" y="1447800"/>
            <a:chExt cx="3454955" cy="3543300"/>
          </a:xfrm>
        </p:grpSpPr>
        <p:sp>
          <p:nvSpPr>
            <p:cNvPr id="13" name="Line 13"/>
            <p:cNvSpPr/>
            <p:nvPr/>
          </p:nvSpPr>
          <p:spPr>
            <a:xfrm>
              <a:off x="7200900" y="1447800"/>
              <a:ext cx="9525" cy="3543300"/>
            </a:xfrm>
            <a:custGeom>
              <a:avLst/>
              <a:gdLst/>
              <a:ahLst/>
              <a:cxnLst/>
              <a:rect l="l" t="t" r="r" b="b"/>
              <a:pathLst>
                <a:path w="9525" h="3543300">
                  <a:moveTo>
                    <a:pt x="0" y="0"/>
                  </a:moveTo>
                  <a:lnTo>
                    <a:pt x="0" y="354330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497318" y="1593532"/>
              <a:ext cx="315853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部署节奏按 As-Is 失衡度分层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498842" y="1930718"/>
              <a:ext cx="288550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As-Is 越失衡，早期阵痛越明显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——上海保留率仅 62.9%；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但优化收益也越大——CV 改善 76.2%、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超阈辖区从 17 个减到 3 个。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97318" y="3136582"/>
              <a:ext cx="164936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对失衡深的省份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498842" y="3473768"/>
              <a:ext cx="155676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需配合分阶段过渡与</a:t>
              </a:r>
              <a:br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客户关系预警机制。</a:t>
              </a:r>
            </a:p>
          </p:txBody>
        </p:sp>
      </p:grpSp>
    </p:spTree>
  </p:cSld>
  <p:clrMapOvr>
    <a:masterClrMapping/>
  </p:clrMapOvr>
  <p:transition p14:dur="400">
    <p:fade/>
  </p:transition>
</p:sld>
</file>

<file path=ppt/slides/slide15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age-title-slot Placeholder Carrier"/>
          <p:cNvSpPr txBox="1"/>
          <p:nvPr>
            <p:ph type="title"/>
          </p:nvPr>
        </p:nvSpPr>
        <p:spPr>
          <a:xfrm>
            <a:off x="1146048" y="145733"/>
            <a:ext cx="5375072" cy="6160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15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四条不足与可控的补救排期</a:t>
            </a:r>
          </a:p>
        </p:txBody>
      </p:sp>
      <p:sp>
        <p:nvSpPr>
          <p:cNvPr id="17" name="f-label-1-slot Placeholder Carrier"/>
          <p:cNvSpPr txBox="1"/>
          <p:nvPr>
            <p:ph type="body" idx="1"/>
          </p:nvPr>
        </p:nvSpPr>
        <p:spPr>
          <a:xfrm>
            <a:off x="684847" y="20097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单阶段对照</a:t>
            </a:r>
          </a:p>
        </p:txBody>
      </p:sp>
      <p:sp>
        <p:nvSpPr>
          <p:cNvPr id="18" name="f-label-2-slot Placeholder Carrier"/>
          <p:cNvSpPr txBox="1"/>
          <p:nvPr>
            <p:ph type="body" idx="2"/>
          </p:nvPr>
        </p:nvSpPr>
        <p:spPr>
          <a:xfrm>
            <a:off x="684847" y="25431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随机初始解</a:t>
            </a:r>
          </a:p>
        </p:txBody>
      </p:sp>
      <p:sp>
        <p:nvSpPr>
          <p:cNvPr id="19" name="f-label-3-slot Placeholder Carrier"/>
          <p:cNvSpPr txBox="1"/>
          <p:nvPr>
            <p:ph type="body" idx="3"/>
          </p:nvPr>
        </p:nvSpPr>
        <p:spPr>
          <a:xfrm>
            <a:off x="684847" y="3076575"/>
            <a:ext cx="107537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零迭代基线</a:t>
            </a:r>
          </a:p>
        </p:txBody>
      </p:sp>
      <p:sp>
        <p:nvSpPr>
          <p:cNvPr id="20" name="f-label-4-slot Placeholder Carrier"/>
          <p:cNvSpPr txBox="1"/>
          <p:nvPr>
            <p:ph type="body" idx="4"/>
          </p:nvPr>
        </p:nvSpPr>
        <p:spPr>
          <a:xfrm>
            <a:off x="896874" y="36099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文献综述</a:t>
            </a:r>
          </a:p>
        </p:txBody>
      </p:sp>
      <p:sp>
        <p:nvSpPr>
          <p:cNvPr id="21" name="f-label-5-slot Placeholder Carrier"/>
          <p:cNvSpPr txBox="1"/>
          <p:nvPr>
            <p:ph type="body" idx="5"/>
          </p:nvPr>
        </p:nvSpPr>
        <p:spPr>
          <a:xfrm>
            <a:off x="896874" y="41433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格式复核</a:t>
            </a:r>
          </a:p>
        </p:txBody>
      </p:sp>
      <p:sp>
        <p:nvSpPr>
          <p:cNvPr id="22" name="f-label-6-slot Placeholder Carrier"/>
          <p:cNvSpPr txBox="1"/>
          <p:nvPr>
            <p:ph type="body" idx="6"/>
          </p:nvPr>
        </p:nvSpPr>
        <p:spPr>
          <a:xfrm>
            <a:off x="1108900" y="4676775"/>
            <a:ext cx="651320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预答辩</a:t>
            </a:r>
          </a:p>
        </p:txBody>
      </p:sp>
      <p:sp>
        <p:nvSpPr>
          <p:cNvPr id="23" name="f-label-7-slot Placeholder Carrier"/>
          <p:cNvSpPr txBox="1"/>
          <p:nvPr>
            <p:ph type="body" idx="7"/>
          </p:nvPr>
        </p:nvSpPr>
        <p:spPr>
          <a:xfrm>
            <a:off x="896874" y="5210175"/>
            <a:ext cx="86334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 marL="0" indent="0">
              <a:buNone/>
            </a:pPr>
            <a:r>
              <a:rPr lang="zh-CN" sz="1500" b="1" dirty="0">
                <a:solidFill>
                  <a:schemeClr val="dk1"/>
                </a:solidFill>
                <a:latin typeface="+mn-lt"/>
                <a:ea typeface="+mn-ea"/>
                <a:cs typeface="+mn-cs"/>
              </a:rPr>
              <a:t>定稿送审</a:t>
            </a:r>
          </a:p>
        </p:txBody>
      </p:sp>
      <p:grpSp>
        <p:nvGrpSpPr>
          <p:cNvPr id="34" name="f-bars-slot Proxy Content"/>
          <p:cNvGrpSpPr/>
          <p:nvPr/>
        </p:nvGrpSpPr>
        <p:grpSpPr>
          <a:xfrm>
            <a:off x="1981200" y="1809750"/>
            <a:ext cx="9220200" cy="3619500"/>
            <a:chOff x="1981200" y="1809750"/>
            <a:chExt cx="9220200" cy="3619500"/>
          </a:xfrm>
        </p:grpSpPr>
        <p:sp>
          <p:nvSpPr>
            <p:cNvPr id="24" name="Line 24"/>
            <p:cNvSpPr/>
            <p:nvPr/>
          </p:nvSpPr>
          <p:spPr>
            <a:xfrm>
              <a:off x="4248150" y="18097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25" name="Line 25"/>
            <p:cNvSpPr/>
            <p:nvPr/>
          </p:nvSpPr>
          <p:spPr>
            <a:xfrm>
              <a:off x="6591300" y="18097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8934450" y="1809750"/>
              <a:ext cx="9525" cy="3619500"/>
            </a:xfrm>
            <a:custGeom>
              <a:avLst/>
              <a:gdLst/>
              <a:ahLst/>
              <a:cxnLst/>
              <a:rect l="l" t="t" r="r" b="b"/>
              <a:pathLst>
                <a:path w="9525" h="3619500">
                  <a:moveTo>
                    <a:pt x="0" y="0"/>
                  </a:moveTo>
                  <a:lnTo>
                    <a:pt x="0" y="3619500"/>
                  </a:lnTo>
                </a:path>
              </a:pathLst>
            </a:custGeom>
            <a:noFill/>
            <a:ln w="9525">
              <a:solidFill>
                <a:srgbClr val="D6DCE5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981200" y="2000250"/>
              <a:ext cx="2190750" cy="228600"/>
            </a:xfrm>
            <a:prstGeom prst="rect">
              <a:avLst/>
            </a:prstGeom>
            <a:solidFill>
              <a:srgbClr val="173A5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1981200" y="2533650"/>
              <a:ext cx="2190750" cy="228600"/>
            </a:xfrm>
            <a:prstGeom prst="rect">
              <a:avLst/>
            </a:prstGeom>
            <a:solidFill>
              <a:srgbClr val="173A5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1981200" y="3067050"/>
              <a:ext cx="2190750" cy="228600"/>
            </a:xfrm>
            <a:prstGeom prst="rect">
              <a:avLst/>
            </a:prstGeom>
            <a:solidFill>
              <a:srgbClr val="173A5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4324350" y="3600450"/>
              <a:ext cx="219075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4324350" y="4133850"/>
              <a:ext cx="2190750" cy="2286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6667500" y="4667250"/>
              <a:ext cx="2190750" cy="228600"/>
            </a:xfrm>
            <a:prstGeom prst="rect">
              <a:avLst/>
            </a:prstGeom>
            <a:solidFill>
              <a:srgbClr val="333F50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9010650" y="5200650"/>
              <a:ext cx="2190750" cy="228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</p:grpSp>
      <p:sp>
        <p:nvSpPr>
          <p:cNvPr id="35" name="page-num-slot Placeholder Carrier"/>
          <p:cNvSpPr txBox="1"/>
          <p:nvPr>
            <p:ph type="sldNum" idx="99"/>
          </p:nvPr>
        </p:nvSpPr>
        <p:spPr>
          <a:xfrm>
            <a:off x="10909573" y="5778818"/>
            <a:ext cx="62253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350" dirty="0">
                <a:solidFill>
                  <a:schemeClr val="accent3"/>
                </a:solidFill>
                <a:latin typeface="+mn-lt"/>
                <a:ea typeface="+mn-ea"/>
                <a:cs typeface="+mn-cs"/>
              </a:rPr>
              <a:t>15 / 16</a:t>
            </a:r>
          </a:p>
        </p:txBody>
      </p:sp>
      <p:grpSp>
        <p:nvGrpSpPr>
          <p:cNvPr id="40" name="Group 40"/>
          <p:cNvGrpSpPr/>
          <p:nvPr/>
        </p:nvGrpSpPr>
        <p:grpSpPr>
          <a:xfrm>
            <a:off x="2887980" y="1378268"/>
            <a:ext cx="7497509" cy="264033"/>
            <a:chOff x="2887980" y="1378268"/>
            <a:chExt cx="7497509" cy="264033"/>
          </a:xfrm>
        </p:grpSpPr>
        <p:sp>
          <p:nvSpPr>
            <p:cNvPr id="36" name="TextBox 36"/>
            <p:cNvSpPr txBox="1"/>
            <p:nvPr/>
          </p:nvSpPr>
          <p:spPr>
            <a:xfrm>
              <a:off x="2887980" y="1378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九月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231130" y="13782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十月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483412" y="1378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十一月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826562" y="1378268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十二月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905000" y="5550218"/>
            <a:ext cx="8173593" cy="264033"/>
            <a:chOff x="1905000" y="5550218"/>
            <a:chExt cx="8173593" cy="264033"/>
          </a:xfrm>
        </p:grpSpPr>
        <p:sp>
          <p:nvSpPr>
            <p:cNvPr id="41" name="Rectangle 41"/>
            <p:cNvSpPr/>
            <p:nvPr/>
          </p:nvSpPr>
          <p:spPr>
            <a:xfrm>
              <a:off x="1905000" y="5581650"/>
              <a:ext cx="133350" cy="133350"/>
            </a:xfrm>
            <a:prstGeom prst="rect">
              <a:avLst/>
            </a:prstGeom>
            <a:solidFill>
              <a:srgbClr val="173A5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107692" y="5550218"/>
              <a:ext cx="250351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九月补充实验（各 10 次重复）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143500" y="5581650"/>
              <a:ext cx="133350" cy="1333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346192" y="5550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十月论文完善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048500" y="5581650"/>
              <a:ext cx="133350" cy="133350"/>
            </a:xfrm>
            <a:prstGeom prst="rect">
              <a:avLst/>
            </a:prstGeom>
            <a:solidFill>
              <a:srgbClr val="333F50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251192" y="55502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十一月预答辩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8953500" y="5581650"/>
              <a:ext cx="133350" cy="133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9156192" y="555021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十二月定稿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600456" y="929640"/>
            <a:ext cx="10477195" cy="352044"/>
            <a:chOff x="600456" y="929640"/>
            <a:chExt cx="10477195" cy="352044"/>
          </a:xfrm>
        </p:grpSpPr>
        <p:sp>
          <p:nvSpPr>
            <p:cNvPr id="50" name="TextBox 50"/>
            <p:cNvSpPr txBox="1"/>
            <p:nvPr/>
          </p:nvSpPr>
          <p:spPr>
            <a:xfrm>
              <a:off x="600456" y="929640"/>
              <a:ext cx="104771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404040"/>
                  </a:solidFill>
                  <a:latin typeface="+mn-lt"/>
                  <a:ea typeface="+mn-ea"/>
                  <a:cs typeface="+mn-cs"/>
                </a:rPr>
                <a:t>① 单企业单时点样本；② 缺对照与消融；③ 权重阈值未做敏感性分析；④ 商业化缺 POC 验证。</a:t>
              </a:r>
            </a:p>
          </p:txBody>
        </p:sp>
      </p:grpSp>
      <p:sp>
        <p:nvSpPr>
          <p:cNvPr id="52" name="Placeholder Binding obj 8" hidden="1"/>
          <p:cNvSpPr>
            <a:spLocks noGrp="1"/>
          </p:cNvSpPr>
          <p:nvPr>
            <p:ph type="obj" idx="8"/>
          </p:nvPr>
        </p:nvSpPr>
        <p:spPr>
          <a:xfrm>
            <a:off x="1905000" y="1752600"/>
            <a:ext cx="9372600" cy="3733800"/>
          </a:xfrm>
          <a:prstGeom prst="rect">
            <a:avLst/>
          </a:prstGeom>
          <a:noFill/>
          <a:ln>
            <a:noFill/>
          </a:ln>
        </p:spPr>
        <p:txBody>
          <a:bodyPr wrap="square" anchor="ctr" anchorCtr="0">
            <a:noAutofit/>
          </a:bodyPr>
          <a:lstStyle/>
          <a:p>
            <a:r>
              <a:rPr lang="en-US" sz="100">
                <a:solidFill>
                  <a:srgbClr val="FFFFFF">
                    <a:alpha val="0"/>
                  </a:srgbClr>
                </a:solidFill>
              </a:rPr>
              <a:t>​</a:t>
            </a:r>
            <a:endParaRPr lang="en-US"/>
          </a:p>
        </p:txBody>
      </p:sp>
    </p:spTree>
  </p:cSld>
  <p:clrMapOvr>
    <a:masterClrMapping/>
  </p:clrMapOvr>
  <p:transition p14:dur="400">
    <p:fade/>
  </p:transition>
</p:sld>
</file>

<file path=ppt/slides/slide16.xml><?xml version="1.0" encoding="utf-8"?>
<p:sld xmlns:a="http://schemas.openxmlformats.org/drawingml/2006/main" xmlns:p="http://schemas.openxmlformats.org/presentationml/2006/main" xmlns:p14="http://schemas.microsoft.com/office/powerpoint/2010/main" showMasterSp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nding-thanks-slot Placeholder Carrier"/>
          <p:cNvSpPr txBox="1"/>
          <p:nvPr>
            <p:ph type="title"/>
          </p:nvPr>
        </p:nvSpPr>
        <p:spPr>
          <a:xfrm>
            <a:off x="3532632" y="3171825"/>
            <a:ext cx="5126736" cy="11620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6000" b="1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敬请批评指正</a:t>
            </a:r>
          </a:p>
        </p:txBody>
      </p:sp>
      <p:sp>
        <p:nvSpPr>
          <p:cNvPr id="10" name="ending-subtitle-slot Placeholder Carrier"/>
          <p:cNvSpPr txBox="1"/>
          <p:nvPr>
            <p:ph type="body" idx="1"/>
          </p:nvPr>
        </p:nvSpPr>
        <p:spPr>
          <a:xfrm>
            <a:off x="5298567" y="4380548"/>
            <a:ext cx="1594866" cy="38138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 marL="0" indent="0">
              <a:buNone/>
            </a:pPr>
            <a:r>
              <a:rPr lang="zh-CN" sz="195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汇报人：陈一</a:t>
            </a:r>
          </a:p>
        </p:txBody>
      </p:sp>
    </p:spTree>
  </p:cSld>
  <p:clrMapOvr>
    <a:masterClrMapping/>
  </p:clrMapOvr>
  <p:transition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B1C21"/>
      </a:dk1>
      <a:lt1>
        <a:srgbClr val="FFFFFF"/>
      </a:lt1>
      <a:dk2>
        <a:srgbClr val="1F497D"/>
      </a:dk2>
      <a:lt2>
        <a:srgbClr val="F2F4F6"/>
      </a:lt2>
      <a:accent1>
        <a:srgbClr val="C8161E"/>
      </a:accent1>
      <a:accent2>
        <a:srgbClr val="1F4D78"/>
      </a:accent2>
      <a:accent3>
        <a:srgbClr val="44546A"/>
      </a:accent3>
      <a:accent4>
        <a:srgbClr val="C8161E"/>
      </a:accent4>
      <a:accent5>
        <a:srgbClr val="4BACC6"/>
      </a:accent5>
      <a:accent6>
        <a:srgbClr val="F79646"/>
      </a:accent6>
      <a:hlink>
        <a:srgbClr val="1F4D78"/>
      </a:hlink>
      <a:folHlink>
        <a:srgbClr val="44546A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B1C21"/>
      </a:dk1>
      <a:lt1>
        <a:srgbClr val="FFFFFF"/>
      </a:lt1>
      <a:dk2>
        <a:srgbClr val="1F497D"/>
      </a:dk2>
      <a:lt2>
        <a:srgbClr val="F2F4F6"/>
      </a:lt2>
      <a:accent1>
        <a:srgbClr val="C8161E"/>
      </a:accent1>
      <a:accent2>
        <a:srgbClr val="1F4D78"/>
      </a:accent2>
      <a:accent3>
        <a:srgbClr val="44546A"/>
      </a:accent3>
      <a:accent4>
        <a:srgbClr val="C8161E"/>
      </a:accent4>
      <a:accent5>
        <a:srgbClr val="4BACC6"/>
      </a:accent5>
      <a:accent6>
        <a:srgbClr val="F79646"/>
      </a:accent6>
      <a:hlink>
        <a:srgbClr val="1F4D78"/>
      </a:hlink>
      <a:folHlink>
        <a:srgbClr val="44546A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SJTU Content Theme">
  <a:themeElements>
    <a:clrScheme name="PPT Master">
      <a:dk1>
        <a:srgbClr val="1B1C21"/>
      </a:dk1>
      <a:lt1>
        <a:srgbClr val="FFFFFF"/>
      </a:lt1>
      <a:dk2>
        <a:srgbClr val="1F497D"/>
      </a:dk2>
      <a:lt2>
        <a:srgbClr val="F2F4F6"/>
      </a:lt2>
      <a:accent1>
        <a:srgbClr val="C8161E"/>
      </a:accent1>
      <a:accent2>
        <a:srgbClr val="1F4D78"/>
      </a:accent2>
      <a:accent3>
        <a:srgbClr val="44546A"/>
      </a:accent3>
      <a:accent4>
        <a:srgbClr val="C8161E"/>
      </a:accent4>
      <a:accent5>
        <a:srgbClr val="4BACC6"/>
      </a:accent5>
      <a:accent6>
        <a:srgbClr val="F79646"/>
      </a:accent6>
      <a:hlink>
        <a:srgbClr val="1F4D78"/>
      </a:hlink>
      <a:folHlink>
        <a:srgbClr val="44546A"/>
      </a:folHlink>
    </a:clrScheme>
    <a:fontScheme name="PPT Master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2026-09-16T14:54:31Z</dcterms:created>
  <dcterms:modified xsi:type="dcterms:W3CDTF">2026-09-16T14:54:31Z</dcterms:modified>
  <cp:category/>
  <cp:contentStatus/>
</cp:coreProperties>
</file>